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2042648"/>
  <p:notesSz cx="12042648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"/>
            <a:ext cx="1828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2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SEMANTIC LAYER ARCHITECTURE FOR AI-POWERED CRM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1828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3A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Business Question to Trusted, Consistent Insights &amp; Actions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256032" y="960120"/>
            <a:ext cx="251460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6B3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033272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USERS &amp; CONSUMERS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93192" y="1344168"/>
            <a:ext cx="2240280" cy="0"/>
          </a:xfrm>
          <a:prstGeom prst="line">
            <a:avLst/>
          </a:prstGeom>
          <a:noFill/>
          <a:ln w="12700">
            <a:solidFill>
              <a:srgbClr val="D8D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" y="1508760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1444752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Managers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" y="1732788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" y="1668780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6616" y="1956816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189280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Applications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56616" y="2180844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" y="2116836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/ Dashboards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6616" y="2404872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2340864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/ LLMs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2743200"/>
            <a:ext cx="384048" cy="384048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8" name="Text 16"/>
          <p:cNvSpPr/>
          <p:nvPr/>
        </p:nvSpPr>
        <p:spPr>
          <a:xfrm>
            <a:off x="438912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33272" y="2743200"/>
            <a:ext cx="384048" cy="384048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0" name="Text 18"/>
          <p:cNvSpPr/>
          <p:nvPr/>
        </p:nvSpPr>
        <p:spPr>
          <a:xfrm>
            <a:off x="1033272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27632" y="2743200"/>
            <a:ext cx="384048" cy="384048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22" name="Text 20"/>
          <p:cNvSpPr/>
          <p:nvPr/>
        </p:nvSpPr>
        <p:spPr>
          <a:xfrm>
            <a:off x="1627632" y="2743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16352" y="1600200"/>
            <a:ext cx="64008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2816352" y="10972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88920" y="1828800"/>
            <a:ext cx="777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“Show premium customers in Korea likely to upgrade to Galaxy Fold”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862072" y="3108960"/>
            <a:ext cx="64008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2724912" y="3172968"/>
            <a:ext cx="868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+ Results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(Charts, Tables, Insights)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3639312" y="960120"/>
            <a:ext cx="28803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6B3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76472" y="10332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LLM / AI ASSISTANT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3776472" y="1344168"/>
            <a:ext cx="2606040" cy="0"/>
          </a:xfrm>
          <a:prstGeom prst="line">
            <a:avLst/>
          </a:prstGeom>
          <a:noFill/>
          <a:ln w="12700">
            <a:solidFill>
              <a:srgbClr val="D8D0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03904" y="1463040"/>
            <a:ext cx="502920" cy="50292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2" name="Text 30"/>
          <p:cNvSpPr/>
          <p:nvPr/>
        </p:nvSpPr>
        <p:spPr>
          <a:xfrm>
            <a:off x="3803904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25696" y="1481328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4" name="Text 32"/>
          <p:cNvSpPr/>
          <p:nvPr/>
        </p:nvSpPr>
        <p:spPr>
          <a:xfrm>
            <a:off x="4581144" y="1417320"/>
            <a:ext cx="1801368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intent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4425696" y="1792224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6" name="Text 34"/>
          <p:cNvSpPr/>
          <p:nvPr/>
        </p:nvSpPr>
        <p:spPr>
          <a:xfrm>
            <a:off x="4581144" y="1728216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entities, metrics, filters, time, segment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4425696" y="2322576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8" name="Text 36"/>
          <p:cNvSpPr/>
          <p:nvPr/>
        </p:nvSpPr>
        <p:spPr>
          <a:xfrm>
            <a:off x="4581144" y="2258568"/>
            <a:ext cx="18013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Semantic Engines for business meaning &amp; logic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3776472" y="2788920"/>
            <a:ext cx="2606040" cy="0"/>
          </a:xfrm>
          <a:prstGeom prst="line">
            <a:avLst/>
          </a:prstGeom>
          <a:noFill/>
          <a:ln w="12700">
            <a:solidFill>
              <a:srgbClr val="D8D0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76472" y="2907792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Understanding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565392" y="1463040"/>
            <a:ext cx="73152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537960" y="10332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Request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(Concepts)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19672" y="1737360"/>
            <a:ext cx="868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Customer,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Country=KR,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Propensity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11112" y="3108960"/>
            <a:ext cx="68580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434072" y="960120"/>
            <a:ext cx="24231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2F5FA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434072" y="960120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2F5FA8"/>
          </a:solidFill>
          <a:ln/>
        </p:spPr>
      </p:sp>
      <p:sp>
        <p:nvSpPr>
          <p:cNvPr id="47" name="Text 45"/>
          <p:cNvSpPr/>
          <p:nvPr/>
        </p:nvSpPr>
        <p:spPr>
          <a:xfrm>
            <a:off x="7525512" y="98755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SEMANTIC LAYER ENGINE
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(Business Resolution Engine)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7580376" y="1755648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49" name="Text 47"/>
          <p:cNvSpPr/>
          <p:nvPr/>
        </p:nvSpPr>
        <p:spPr>
          <a:xfrm>
            <a:off x="7735824" y="16916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Semantic Model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7580376" y="2029968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51" name="Text 49"/>
          <p:cNvSpPr/>
          <p:nvPr/>
        </p:nvSpPr>
        <p:spPr>
          <a:xfrm>
            <a:off x="7735824" y="19659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Resolves business concepts (entities, metrics, dimensions)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7580376" y="2304288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53" name="Text 51"/>
          <p:cNvSpPr/>
          <p:nvPr/>
        </p:nvSpPr>
        <p:spPr>
          <a:xfrm>
            <a:off x="7735824" y="22402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availability, permissions &amp; context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7580376" y="2578608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55" name="Text 53"/>
          <p:cNvSpPr/>
          <p:nvPr/>
        </p:nvSpPr>
        <p:spPr>
          <a:xfrm>
            <a:off x="7735824" y="25146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resolved business metadata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8444484" y="2834640"/>
            <a:ext cx="402336" cy="402336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57" name="Text 55"/>
          <p:cNvSpPr/>
          <p:nvPr/>
        </p:nvSpPr>
        <p:spPr>
          <a:xfrm>
            <a:off x="8444484" y="2834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902952" y="1463040"/>
            <a:ext cx="27432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59" name="Shape 57"/>
          <p:cNvSpPr/>
          <p:nvPr/>
        </p:nvSpPr>
        <p:spPr>
          <a:xfrm>
            <a:off x="10222992" y="960120"/>
            <a:ext cx="24231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1E8A8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222992" y="960120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1E8A8A"/>
          </a:solidFill>
          <a:ln/>
        </p:spPr>
      </p:sp>
      <p:sp>
        <p:nvSpPr>
          <p:cNvPr id="61" name="Text 59"/>
          <p:cNvSpPr/>
          <p:nvPr/>
        </p:nvSpPr>
        <p:spPr>
          <a:xfrm>
            <a:off x="10314432" y="98755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SEMANTIC ORCHESTRATION ENGINE
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(Query Planning Engine)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10369296" y="1755648"/>
            <a:ext cx="91440" cy="91440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63" name="Text 61"/>
          <p:cNvSpPr/>
          <p:nvPr/>
        </p:nvSpPr>
        <p:spPr>
          <a:xfrm>
            <a:off x="10524744" y="16916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Determines required tables and relationships</a:t>
            </a:r>
            <a:endParaRPr lang="en-US" sz="970" dirty="0"/>
          </a:p>
        </p:txBody>
      </p:sp>
      <p:sp>
        <p:nvSpPr>
          <p:cNvPr id="64" name="Shape 62"/>
          <p:cNvSpPr/>
          <p:nvPr/>
        </p:nvSpPr>
        <p:spPr>
          <a:xfrm>
            <a:off x="10369296" y="2029968"/>
            <a:ext cx="91440" cy="91440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65" name="Text 63"/>
          <p:cNvSpPr/>
          <p:nvPr/>
        </p:nvSpPr>
        <p:spPr>
          <a:xfrm>
            <a:off x="10524744" y="19659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business rules &amp; calculations</a:t>
            </a:r>
            <a:endParaRPr lang="en-US" sz="970" dirty="0"/>
          </a:p>
        </p:txBody>
      </p:sp>
      <p:sp>
        <p:nvSpPr>
          <p:cNvPr id="66" name="Shape 64"/>
          <p:cNvSpPr/>
          <p:nvPr/>
        </p:nvSpPr>
        <p:spPr>
          <a:xfrm>
            <a:off x="10369296" y="2304288"/>
            <a:ext cx="91440" cy="91440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67" name="Text 65"/>
          <p:cNvSpPr/>
          <p:nvPr/>
        </p:nvSpPr>
        <p:spPr>
          <a:xfrm>
            <a:off x="10524744" y="22402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logical query plan (joins, aggregations, filters)</a:t>
            </a:r>
            <a:endParaRPr lang="en-US" sz="970" dirty="0"/>
          </a:p>
        </p:txBody>
      </p:sp>
      <p:sp>
        <p:nvSpPr>
          <p:cNvPr id="68" name="Shape 66"/>
          <p:cNvSpPr/>
          <p:nvPr/>
        </p:nvSpPr>
        <p:spPr>
          <a:xfrm>
            <a:off x="10369296" y="2578608"/>
            <a:ext cx="91440" cy="91440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69" name="Text 67"/>
          <p:cNvSpPr/>
          <p:nvPr/>
        </p:nvSpPr>
        <p:spPr>
          <a:xfrm>
            <a:off x="10524744" y="25146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for performance &amp; cost</a:t>
            </a:r>
            <a:endParaRPr lang="en-US" sz="970" dirty="0"/>
          </a:p>
        </p:txBody>
      </p:sp>
      <p:sp>
        <p:nvSpPr>
          <p:cNvPr id="70" name="Shape 68"/>
          <p:cNvSpPr/>
          <p:nvPr/>
        </p:nvSpPr>
        <p:spPr>
          <a:xfrm>
            <a:off x="11233404" y="2834640"/>
            <a:ext cx="402336" cy="402336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71" name="Text 69"/>
          <p:cNvSpPr/>
          <p:nvPr/>
        </p:nvSpPr>
        <p:spPr>
          <a:xfrm>
            <a:off x="11233404" y="2834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12691872" y="1463040"/>
            <a:ext cx="27432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13011912" y="960120"/>
            <a:ext cx="2423160" cy="23317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5875">
            <a:solidFill>
              <a:srgbClr val="3C8C4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3011912" y="960120"/>
            <a:ext cx="2423160" cy="566928"/>
          </a:xfrm>
          <a:prstGeom prst="roundRect">
            <a:avLst>
              <a:gd name="adj" fmla="val 8065"/>
            </a:avLst>
          </a:prstGeom>
          <a:solidFill>
            <a:srgbClr val="3C8C4A"/>
          </a:solidFill>
          <a:ln/>
        </p:spPr>
      </p:sp>
      <p:sp>
        <p:nvSpPr>
          <p:cNvPr id="75" name="Text 73"/>
          <p:cNvSpPr/>
          <p:nvPr/>
        </p:nvSpPr>
        <p:spPr>
          <a:xfrm>
            <a:off x="13103352" y="987552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SQL GENERATION ENGINE
</a:t>
            </a:r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(SQL Translation Engine)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13158216" y="1755648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77" name="Text 75"/>
          <p:cNvSpPr/>
          <p:nvPr/>
        </p:nvSpPr>
        <p:spPr>
          <a:xfrm>
            <a:off x="13313664" y="16916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logical plan to executable SQL</a:t>
            </a:r>
            <a:endParaRPr lang="en-US" sz="970" dirty="0"/>
          </a:p>
        </p:txBody>
      </p:sp>
      <p:sp>
        <p:nvSpPr>
          <p:cNvPr id="78" name="Shape 76"/>
          <p:cNvSpPr/>
          <p:nvPr/>
        </p:nvSpPr>
        <p:spPr>
          <a:xfrm>
            <a:off x="13158216" y="2029968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79" name="Text 77"/>
          <p:cNvSpPr/>
          <p:nvPr/>
        </p:nvSpPr>
        <p:spPr>
          <a:xfrm>
            <a:off x="13313664" y="196596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dialect rules (BigQuery SQL)</a:t>
            </a:r>
            <a:endParaRPr lang="en-US" sz="970" dirty="0"/>
          </a:p>
        </p:txBody>
      </p:sp>
      <p:sp>
        <p:nvSpPr>
          <p:cNvPr id="80" name="Shape 78"/>
          <p:cNvSpPr/>
          <p:nvPr/>
        </p:nvSpPr>
        <p:spPr>
          <a:xfrm>
            <a:off x="13158216" y="2304288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81" name="Text 79"/>
          <p:cNvSpPr/>
          <p:nvPr/>
        </p:nvSpPr>
        <p:spPr>
          <a:xfrm>
            <a:off x="13313664" y="22402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security filters (row/column level)</a:t>
            </a:r>
            <a:endParaRPr lang="en-US" sz="970" dirty="0"/>
          </a:p>
        </p:txBody>
      </p:sp>
      <p:sp>
        <p:nvSpPr>
          <p:cNvPr id="82" name="Shape 80"/>
          <p:cNvSpPr/>
          <p:nvPr/>
        </p:nvSpPr>
        <p:spPr>
          <a:xfrm>
            <a:off x="13158216" y="2578608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83" name="Text 81"/>
          <p:cNvSpPr/>
          <p:nvPr/>
        </p:nvSpPr>
        <p:spPr>
          <a:xfrm>
            <a:off x="13313664" y="251460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7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optimized SQL for execution</a:t>
            </a:r>
            <a:endParaRPr lang="en-US" sz="970" dirty="0"/>
          </a:p>
        </p:txBody>
      </p:sp>
      <p:sp>
        <p:nvSpPr>
          <p:cNvPr id="84" name="Shape 82"/>
          <p:cNvSpPr/>
          <p:nvPr/>
        </p:nvSpPr>
        <p:spPr>
          <a:xfrm>
            <a:off x="14022324" y="2834640"/>
            <a:ext cx="402336" cy="402336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85" name="Text 83"/>
          <p:cNvSpPr/>
          <p:nvPr/>
        </p:nvSpPr>
        <p:spPr>
          <a:xfrm>
            <a:off x="14022324" y="283464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15480792" y="1463040"/>
            <a:ext cx="54864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87" name="Text 85"/>
          <p:cNvSpPr/>
          <p:nvPr/>
        </p:nvSpPr>
        <p:spPr>
          <a:xfrm>
            <a:off x="15462504" y="109728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Query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6120872" y="960120"/>
            <a:ext cx="2103120" cy="23317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5875">
            <a:solidFill>
              <a:srgbClr val="D98A1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258032" y="10332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98A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DATA WAREHOUSE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16258032" y="1344168"/>
            <a:ext cx="1828800" cy="0"/>
          </a:xfrm>
          <a:prstGeom prst="line">
            <a:avLst/>
          </a:prstGeom>
          <a:noFill/>
          <a:ln w="12700">
            <a:solidFill>
              <a:srgbClr val="F0DDB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6285464" y="1463040"/>
            <a:ext cx="502920" cy="502920"/>
          </a:xfrm>
          <a:prstGeom prst="ellipse">
            <a:avLst/>
          </a:prstGeom>
          <a:solidFill>
            <a:srgbClr val="C9910A"/>
          </a:solidFill>
          <a:ln/>
        </p:spPr>
      </p:sp>
      <p:sp>
        <p:nvSpPr>
          <p:cNvPr id="92" name="Text 90"/>
          <p:cNvSpPr/>
          <p:nvPr/>
        </p:nvSpPr>
        <p:spPr>
          <a:xfrm>
            <a:off x="16285464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⬢</a:t>
            </a:r>
            <a:endParaRPr lang="en-US" sz="2200" dirty="0"/>
          </a:p>
        </p:txBody>
      </p:sp>
      <p:sp>
        <p:nvSpPr>
          <p:cNvPr id="93" name="Text 91"/>
          <p:cNvSpPr/>
          <p:nvPr/>
        </p:nvSpPr>
        <p:spPr>
          <a:xfrm>
            <a:off x="16898112" y="1581912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</a:t>
            </a:r>
            <a:endParaRPr lang="en-US" sz="1250" dirty="0"/>
          </a:p>
        </p:txBody>
      </p:sp>
      <p:sp>
        <p:nvSpPr>
          <p:cNvPr id="94" name="Shape 92"/>
          <p:cNvSpPr/>
          <p:nvPr/>
        </p:nvSpPr>
        <p:spPr>
          <a:xfrm>
            <a:off x="16267176" y="2148840"/>
            <a:ext cx="91440" cy="91440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95" name="Text 93"/>
          <p:cNvSpPr/>
          <p:nvPr/>
        </p:nvSpPr>
        <p:spPr>
          <a:xfrm>
            <a:off x="16422624" y="2084832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Execution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16267176" y="2372868"/>
            <a:ext cx="91440" cy="91440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97" name="Text 95"/>
          <p:cNvSpPr/>
          <p:nvPr/>
        </p:nvSpPr>
        <p:spPr>
          <a:xfrm>
            <a:off x="16422624" y="2308860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Storage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16267176" y="2596896"/>
            <a:ext cx="91440" cy="91440"/>
          </a:xfrm>
          <a:prstGeom prst="ellipse">
            <a:avLst/>
          </a:prstGeom>
          <a:solidFill>
            <a:srgbClr val="D98A1F"/>
          </a:solidFill>
          <a:ln/>
        </p:spPr>
      </p:sp>
      <p:sp>
        <p:nvSpPr>
          <p:cNvPr id="99" name="Text 97"/>
          <p:cNvSpPr/>
          <p:nvPr/>
        </p:nvSpPr>
        <p:spPr>
          <a:xfrm>
            <a:off x="16422624" y="2532888"/>
            <a:ext cx="1691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Governance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256032" y="3611880"/>
            <a:ext cx="142189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9050">
            <a:solidFill>
              <a:srgbClr val="1F3B7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56032" y="3611880"/>
            <a:ext cx="14218920" cy="411480"/>
          </a:xfrm>
          <a:prstGeom prst="roundRect">
            <a:avLst>
              <a:gd name="adj" fmla="val 11111"/>
            </a:avLst>
          </a:prstGeom>
          <a:solidFill>
            <a:srgbClr val="16294F"/>
          </a:solidFill>
          <a:ln/>
        </p:spPr>
      </p:sp>
      <p:sp>
        <p:nvSpPr>
          <p:cNvPr id="102" name="Text 100"/>
          <p:cNvSpPr/>
          <p:nvPr/>
        </p:nvSpPr>
        <p:spPr>
          <a:xfrm>
            <a:off x="347472" y="3611880"/>
            <a:ext cx="1403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SEMANTIC LAYER (Business Meaning &amp; Logic)</a:t>
            </a:r>
            <a:endParaRPr lang="en-US" sz="1350" dirty="0"/>
          </a:p>
        </p:txBody>
      </p:sp>
      <p:sp>
        <p:nvSpPr>
          <p:cNvPr id="103" name="Shape 101"/>
          <p:cNvSpPr/>
          <p:nvPr/>
        </p:nvSpPr>
        <p:spPr>
          <a:xfrm>
            <a:off x="14794992" y="361188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4794992" y="3611880"/>
            <a:ext cx="3246120" cy="411480"/>
          </a:xfrm>
          <a:prstGeom prst="roundRect">
            <a:avLst>
              <a:gd name="adj" fmla="val 11111"/>
            </a:avLst>
          </a:prstGeom>
          <a:solidFill>
            <a:srgbClr val="5B2D8E"/>
          </a:solidFill>
          <a:ln/>
        </p:spPr>
      </p:sp>
      <p:sp>
        <p:nvSpPr>
          <p:cNvPr id="105" name="Text 103"/>
          <p:cNvSpPr/>
          <p:nvPr/>
        </p:nvSpPr>
        <p:spPr>
          <a:xfrm>
            <a:off x="14886432" y="36118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BUSINESS KNOWLEDGE (RAG)</a:t>
            </a:r>
            <a:endParaRPr lang="en-US" sz="1250" dirty="0"/>
          </a:p>
        </p:txBody>
      </p:sp>
      <p:sp>
        <p:nvSpPr>
          <p:cNvPr id="106" name="Shape 104"/>
          <p:cNvSpPr/>
          <p:nvPr/>
        </p:nvSpPr>
        <p:spPr>
          <a:xfrm>
            <a:off x="393192" y="4178808"/>
            <a:ext cx="2232660" cy="25603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66344" y="4251960"/>
            <a:ext cx="2086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ENTITIES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475488" y="4663440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09" name="Text 107"/>
          <p:cNvSpPr/>
          <p:nvPr/>
        </p:nvSpPr>
        <p:spPr>
          <a:xfrm>
            <a:off x="630936" y="459943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930" dirty="0"/>
          </a:p>
        </p:txBody>
      </p:sp>
      <p:sp>
        <p:nvSpPr>
          <p:cNvPr id="110" name="Shape 108"/>
          <p:cNvSpPr/>
          <p:nvPr/>
        </p:nvSpPr>
        <p:spPr>
          <a:xfrm>
            <a:off x="475488" y="4937760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11" name="Text 109"/>
          <p:cNvSpPr/>
          <p:nvPr/>
        </p:nvSpPr>
        <p:spPr>
          <a:xfrm>
            <a:off x="630936" y="487375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930" dirty="0"/>
          </a:p>
        </p:txBody>
      </p:sp>
      <p:sp>
        <p:nvSpPr>
          <p:cNvPr id="112" name="Shape 110"/>
          <p:cNvSpPr/>
          <p:nvPr/>
        </p:nvSpPr>
        <p:spPr>
          <a:xfrm>
            <a:off x="475488" y="5212080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13" name="Text 111"/>
          <p:cNvSpPr/>
          <p:nvPr/>
        </p:nvSpPr>
        <p:spPr>
          <a:xfrm>
            <a:off x="630936" y="514807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930" dirty="0"/>
          </a:p>
        </p:txBody>
      </p:sp>
      <p:sp>
        <p:nvSpPr>
          <p:cNvPr id="114" name="Shape 112"/>
          <p:cNvSpPr/>
          <p:nvPr/>
        </p:nvSpPr>
        <p:spPr>
          <a:xfrm>
            <a:off x="475488" y="5486400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15" name="Text 113"/>
          <p:cNvSpPr/>
          <p:nvPr/>
        </p:nvSpPr>
        <p:spPr>
          <a:xfrm>
            <a:off x="630936" y="542239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930" dirty="0"/>
          </a:p>
        </p:txBody>
      </p:sp>
      <p:sp>
        <p:nvSpPr>
          <p:cNvPr id="116" name="Shape 114"/>
          <p:cNvSpPr/>
          <p:nvPr/>
        </p:nvSpPr>
        <p:spPr>
          <a:xfrm>
            <a:off x="475488" y="5760720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17" name="Text 115"/>
          <p:cNvSpPr/>
          <p:nvPr/>
        </p:nvSpPr>
        <p:spPr>
          <a:xfrm>
            <a:off x="630936" y="569671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930" dirty="0"/>
          </a:p>
        </p:txBody>
      </p:sp>
      <p:sp>
        <p:nvSpPr>
          <p:cNvPr id="118" name="Shape 116"/>
          <p:cNvSpPr/>
          <p:nvPr/>
        </p:nvSpPr>
        <p:spPr>
          <a:xfrm>
            <a:off x="475488" y="6035040"/>
            <a:ext cx="91440" cy="91440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19" name="Text 117"/>
          <p:cNvSpPr/>
          <p:nvPr/>
        </p:nvSpPr>
        <p:spPr>
          <a:xfrm>
            <a:off x="630936" y="597103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930" dirty="0"/>
          </a:p>
        </p:txBody>
      </p:sp>
      <p:sp>
        <p:nvSpPr>
          <p:cNvPr id="120" name="Shape 118"/>
          <p:cNvSpPr/>
          <p:nvPr/>
        </p:nvSpPr>
        <p:spPr>
          <a:xfrm>
            <a:off x="2735580" y="4178808"/>
            <a:ext cx="2232660" cy="25603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2808732" y="4251960"/>
            <a:ext cx="2086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C8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METRICS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2817876" y="4663440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123" name="Text 121"/>
          <p:cNvSpPr/>
          <p:nvPr/>
        </p:nvSpPr>
        <p:spPr>
          <a:xfrm>
            <a:off x="2973324" y="459943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Lifetime Value (CLV)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2817876" y="4905756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125" name="Text 123"/>
          <p:cNvSpPr/>
          <p:nvPr/>
        </p:nvSpPr>
        <p:spPr>
          <a:xfrm>
            <a:off x="2973324" y="4841748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Propensity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2817876" y="5148072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127" name="Text 125"/>
          <p:cNvSpPr/>
          <p:nvPr/>
        </p:nvSpPr>
        <p:spPr>
          <a:xfrm>
            <a:off x="2973324" y="5084064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Score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2817876" y="5390388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129" name="Text 127"/>
          <p:cNvSpPr/>
          <p:nvPr/>
        </p:nvSpPr>
        <p:spPr>
          <a:xfrm>
            <a:off x="2973324" y="5326380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CTR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2817876" y="5632704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131" name="Text 129"/>
          <p:cNvSpPr/>
          <p:nvPr/>
        </p:nvSpPr>
        <p:spPr>
          <a:xfrm>
            <a:off x="2973324" y="5568696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Conversion Rate</a:t>
            </a:r>
            <a:endParaRPr lang="en-US" sz="900" dirty="0"/>
          </a:p>
        </p:txBody>
      </p:sp>
      <p:sp>
        <p:nvSpPr>
          <p:cNvPr id="132" name="Shape 130"/>
          <p:cNvSpPr/>
          <p:nvPr/>
        </p:nvSpPr>
        <p:spPr>
          <a:xfrm>
            <a:off x="2817876" y="5875020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133" name="Text 131"/>
          <p:cNvSpPr/>
          <p:nvPr/>
        </p:nvSpPr>
        <p:spPr>
          <a:xfrm>
            <a:off x="2973324" y="581101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2817876" y="6117336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135" name="Text 133"/>
          <p:cNvSpPr/>
          <p:nvPr/>
        </p:nvSpPr>
        <p:spPr>
          <a:xfrm>
            <a:off x="2973324" y="6053328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</a:t>
            </a:r>
            <a:endParaRPr lang="en-US" sz="900" dirty="0"/>
          </a:p>
        </p:txBody>
      </p:sp>
      <p:sp>
        <p:nvSpPr>
          <p:cNvPr id="136" name="Shape 134"/>
          <p:cNvSpPr/>
          <p:nvPr/>
        </p:nvSpPr>
        <p:spPr>
          <a:xfrm>
            <a:off x="5077968" y="4178808"/>
            <a:ext cx="2232660" cy="25603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5151120" y="4251960"/>
            <a:ext cx="2086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BUSINESS RULES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5160264" y="466344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39" name="Text 137"/>
          <p:cNvSpPr/>
          <p:nvPr/>
        </p:nvSpPr>
        <p:spPr>
          <a:xfrm>
            <a:off x="5315712" y="459943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Customer (CLV &gt; $1000)</a:t>
            </a:r>
            <a:endParaRPr lang="en-US" sz="880" dirty="0"/>
          </a:p>
        </p:txBody>
      </p:sp>
      <p:sp>
        <p:nvSpPr>
          <p:cNvPr id="140" name="Shape 138"/>
          <p:cNvSpPr/>
          <p:nvPr/>
        </p:nvSpPr>
        <p:spPr>
          <a:xfrm>
            <a:off x="5160264" y="507492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1" name="Text 139"/>
          <p:cNvSpPr/>
          <p:nvPr/>
        </p:nvSpPr>
        <p:spPr>
          <a:xfrm>
            <a:off x="5315712" y="501091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Intent (Rec Score &gt; 0.85)</a:t>
            </a:r>
            <a:endParaRPr lang="en-US" sz="880" dirty="0"/>
          </a:p>
        </p:txBody>
      </p:sp>
      <p:sp>
        <p:nvSpPr>
          <p:cNvPr id="142" name="Shape 140"/>
          <p:cNvSpPr/>
          <p:nvPr/>
        </p:nvSpPr>
        <p:spPr>
          <a:xfrm>
            <a:off x="5160264" y="548640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3" name="Text 141"/>
          <p:cNvSpPr/>
          <p:nvPr/>
        </p:nvSpPr>
        <p:spPr>
          <a:xfrm>
            <a:off x="5315712" y="542239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Eligible (No contact in last 30 days)</a:t>
            </a:r>
            <a:endParaRPr lang="en-US" sz="880" dirty="0"/>
          </a:p>
        </p:txBody>
      </p:sp>
      <p:sp>
        <p:nvSpPr>
          <p:cNvPr id="144" name="Shape 142"/>
          <p:cNvSpPr/>
          <p:nvPr/>
        </p:nvSpPr>
        <p:spPr>
          <a:xfrm>
            <a:off x="5160264" y="589788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5" name="Text 143"/>
          <p:cNvSpPr/>
          <p:nvPr/>
        </p:nvSpPr>
        <p:spPr>
          <a:xfrm>
            <a:off x="5315712" y="583387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Candidate (Owns S22 &amp; Propensity &gt; 0.75)</a:t>
            </a:r>
            <a:endParaRPr lang="en-US" sz="880" dirty="0"/>
          </a:p>
        </p:txBody>
      </p:sp>
      <p:sp>
        <p:nvSpPr>
          <p:cNvPr id="146" name="Shape 144"/>
          <p:cNvSpPr/>
          <p:nvPr/>
        </p:nvSpPr>
        <p:spPr>
          <a:xfrm>
            <a:off x="5160264" y="6309360"/>
            <a:ext cx="91440" cy="914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47" name="Text 145"/>
          <p:cNvSpPr/>
          <p:nvPr/>
        </p:nvSpPr>
        <p:spPr>
          <a:xfrm>
            <a:off x="5315712" y="624535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 / Age / Device Rules</a:t>
            </a:r>
            <a:endParaRPr lang="en-US" sz="880" dirty="0"/>
          </a:p>
        </p:txBody>
      </p:sp>
      <p:sp>
        <p:nvSpPr>
          <p:cNvPr id="148" name="Shape 146"/>
          <p:cNvSpPr/>
          <p:nvPr/>
        </p:nvSpPr>
        <p:spPr>
          <a:xfrm>
            <a:off x="7420356" y="4178808"/>
            <a:ext cx="2232660" cy="25603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493508" y="4251960"/>
            <a:ext cx="20863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1000" dirty="0"/>
          </a:p>
        </p:txBody>
      </p:sp>
      <p:sp>
        <p:nvSpPr>
          <p:cNvPr id="150" name="Shape 148"/>
          <p:cNvSpPr/>
          <p:nvPr/>
        </p:nvSpPr>
        <p:spPr>
          <a:xfrm>
            <a:off x="8033766" y="4681728"/>
            <a:ext cx="256032" cy="256032"/>
          </a:xfrm>
          <a:prstGeom prst="ellipse">
            <a:avLst/>
          </a:prstGeom>
          <a:solidFill>
            <a:srgbClr val="2F5FA8"/>
          </a:solidFill>
          <a:ln/>
        </p:spPr>
      </p:sp>
      <p:sp>
        <p:nvSpPr>
          <p:cNvPr id="151" name="Text 149"/>
          <p:cNvSpPr/>
          <p:nvPr/>
        </p:nvSpPr>
        <p:spPr>
          <a:xfrm>
            <a:off x="8033766" y="4681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52" name="Text 150"/>
          <p:cNvSpPr/>
          <p:nvPr/>
        </p:nvSpPr>
        <p:spPr>
          <a:xfrm>
            <a:off x="7713726" y="49560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7557516" y="5340096"/>
            <a:ext cx="219456" cy="219456"/>
          </a:xfrm>
          <a:prstGeom prst="ellipse">
            <a:avLst/>
          </a:prstGeom>
          <a:solidFill>
            <a:srgbClr val="888888"/>
          </a:solidFill>
          <a:ln/>
        </p:spPr>
      </p:sp>
      <p:sp>
        <p:nvSpPr>
          <p:cNvPr id="154" name="Text 152"/>
          <p:cNvSpPr/>
          <p:nvPr/>
        </p:nvSpPr>
        <p:spPr>
          <a:xfrm>
            <a:off x="7557516" y="53400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000" dirty="0"/>
          </a:p>
        </p:txBody>
      </p:sp>
      <p:sp>
        <p:nvSpPr>
          <p:cNvPr id="155" name="Text 153"/>
          <p:cNvSpPr/>
          <p:nvPr/>
        </p:nvSpPr>
        <p:spPr>
          <a:xfrm>
            <a:off x="7438644" y="55778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730" dirty="0"/>
          </a:p>
        </p:txBody>
      </p:sp>
      <p:sp>
        <p:nvSpPr>
          <p:cNvPr id="156" name="Shape 154"/>
          <p:cNvSpPr/>
          <p:nvPr/>
        </p:nvSpPr>
        <p:spPr>
          <a:xfrm>
            <a:off x="9287256" y="5340096"/>
            <a:ext cx="219456" cy="219456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57" name="Text 155"/>
          <p:cNvSpPr/>
          <p:nvPr/>
        </p:nvSpPr>
        <p:spPr>
          <a:xfrm>
            <a:off x="9287256" y="534009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000" dirty="0"/>
          </a:p>
        </p:txBody>
      </p:sp>
      <p:sp>
        <p:nvSpPr>
          <p:cNvPr id="158" name="Text 156"/>
          <p:cNvSpPr/>
          <p:nvPr/>
        </p:nvSpPr>
        <p:spPr>
          <a:xfrm>
            <a:off x="8830056" y="5577840"/>
            <a:ext cx="960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730" dirty="0"/>
          </a:p>
        </p:txBody>
      </p:sp>
      <p:sp>
        <p:nvSpPr>
          <p:cNvPr id="159" name="Shape 157"/>
          <p:cNvSpPr/>
          <p:nvPr/>
        </p:nvSpPr>
        <p:spPr>
          <a:xfrm>
            <a:off x="7557516" y="5961888"/>
            <a:ext cx="219456" cy="219456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160" name="Text 158"/>
          <p:cNvSpPr/>
          <p:nvPr/>
        </p:nvSpPr>
        <p:spPr>
          <a:xfrm>
            <a:off x="7557516" y="59618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000" dirty="0"/>
          </a:p>
        </p:txBody>
      </p:sp>
      <p:sp>
        <p:nvSpPr>
          <p:cNvPr id="161" name="Text 159"/>
          <p:cNvSpPr/>
          <p:nvPr/>
        </p:nvSpPr>
        <p:spPr>
          <a:xfrm>
            <a:off x="7420356" y="619963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730" dirty="0"/>
          </a:p>
        </p:txBody>
      </p:sp>
      <p:sp>
        <p:nvSpPr>
          <p:cNvPr id="162" name="Shape 160"/>
          <p:cNvSpPr/>
          <p:nvPr/>
        </p:nvSpPr>
        <p:spPr>
          <a:xfrm>
            <a:off x="9287256" y="5961888"/>
            <a:ext cx="219456" cy="219456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63" name="Text 161"/>
          <p:cNvSpPr/>
          <p:nvPr/>
        </p:nvSpPr>
        <p:spPr>
          <a:xfrm>
            <a:off x="9287256" y="596188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164" name="Text 162"/>
          <p:cNvSpPr/>
          <p:nvPr/>
        </p:nvSpPr>
        <p:spPr>
          <a:xfrm>
            <a:off x="9058656" y="619963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</a:t>
            </a:r>
            <a:endParaRPr lang="en-US" sz="730" dirty="0"/>
          </a:p>
        </p:txBody>
      </p:sp>
      <p:sp>
        <p:nvSpPr>
          <p:cNvPr id="165" name="Shape 163"/>
          <p:cNvSpPr/>
          <p:nvPr/>
        </p:nvSpPr>
        <p:spPr>
          <a:xfrm>
            <a:off x="8152638" y="4809744"/>
            <a:ext cx="0" cy="530352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headEnd type="triangle"/>
            <a:tailEnd type="triangle"/>
          </a:ln>
        </p:spPr>
      </p:sp>
      <p:sp>
        <p:nvSpPr>
          <p:cNvPr id="166" name="Shape 164"/>
          <p:cNvSpPr/>
          <p:nvPr/>
        </p:nvSpPr>
        <p:spPr>
          <a:xfrm>
            <a:off x="7776972" y="5340096"/>
            <a:ext cx="1510284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headEnd type="triangle"/>
            <a:tailEnd type="triangle"/>
          </a:ln>
        </p:spPr>
      </p:sp>
      <p:sp>
        <p:nvSpPr>
          <p:cNvPr id="167" name="Shape 165"/>
          <p:cNvSpPr/>
          <p:nvPr/>
        </p:nvSpPr>
        <p:spPr>
          <a:xfrm>
            <a:off x="7667244" y="5449824"/>
            <a:ext cx="0" cy="512064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8" name="Shape 166"/>
          <p:cNvSpPr/>
          <p:nvPr/>
        </p:nvSpPr>
        <p:spPr>
          <a:xfrm>
            <a:off x="9396984" y="5449824"/>
            <a:ext cx="0" cy="512064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9" name="Text 167"/>
          <p:cNvSpPr/>
          <p:nvPr/>
        </p:nvSpPr>
        <p:spPr>
          <a:xfrm>
            <a:off x="7493508" y="6236208"/>
            <a:ext cx="20863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how entities are connected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(joins, cardinality, paths)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9762744" y="4178808"/>
            <a:ext cx="2232660" cy="25603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9835896" y="4251960"/>
            <a:ext cx="2086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DIMENSIONS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9845040" y="466344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3" name="Text 171"/>
          <p:cNvSpPr/>
          <p:nvPr/>
        </p:nvSpPr>
        <p:spPr>
          <a:xfrm>
            <a:off x="10000488" y="459943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Country</a:t>
            </a:r>
            <a:endParaRPr lang="en-US" sz="900" dirty="0"/>
          </a:p>
        </p:txBody>
      </p:sp>
      <p:sp>
        <p:nvSpPr>
          <p:cNvPr id="174" name="Shape 172"/>
          <p:cNvSpPr/>
          <p:nvPr/>
        </p:nvSpPr>
        <p:spPr>
          <a:xfrm>
            <a:off x="9845040" y="4905756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5" name="Text 173"/>
          <p:cNvSpPr/>
          <p:nvPr/>
        </p:nvSpPr>
        <p:spPr>
          <a:xfrm>
            <a:off x="10000488" y="4841748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Group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9845040" y="5148072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7" name="Text 175"/>
          <p:cNvSpPr/>
          <p:nvPr/>
        </p:nvSpPr>
        <p:spPr>
          <a:xfrm>
            <a:off x="10000488" y="5084064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Family</a:t>
            </a:r>
            <a:endParaRPr lang="en-US" sz="900" dirty="0"/>
          </a:p>
        </p:txBody>
      </p:sp>
      <p:sp>
        <p:nvSpPr>
          <p:cNvPr id="178" name="Shape 176"/>
          <p:cNvSpPr/>
          <p:nvPr/>
        </p:nvSpPr>
        <p:spPr>
          <a:xfrm>
            <a:off x="9845040" y="5390388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79" name="Text 177"/>
          <p:cNvSpPr/>
          <p:nvPr/>
        </p:nvSpPr>
        <p:spPr>
          <a:xfrm>
            <a:off x="10000488" y="5326380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Category</a:t>
            </a:r>
            <a:endParaRPr lang="en-US" sz="900" dirty="0"/>
          </a:p>
        </p:txBody>
      </p:sp>
      <p:sp>
        <p:nvSpPr>
          <p:cNvPr id="180" name="Shape 178"/>
          <p:cNvSpPr/>
          <p:nvPr/>
        </p:nvSpPr>
        <p:spPr>
          <a:xfrm>
            <a:off x="9845040" y="5632704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1" name="Text 179"/>
          <p:cNvSpPr/>
          <p:nvPr/>
        </p:nvSpPr>
        <p:spPr>
          <a:xfrm>
            <a:off x="10000488" y="5568696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Segment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9845040" y="587502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3" name="Text 181"/>
          <p:cNvSpPr/>
          <p:nvPr/>
        </p:nvSpPr>
        <p:spPr>
          <a:xfrm>
            <a:off x="10000488" y="581101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900" dirty="0"/>
          </a:p>
        </p:txBody>
      </p:sp>
      <p:sp>
        <p:nvSpPr>
          <p:cNvPr id="184" name="Shape 182"/>
          <p:cNvSpPr/>
          <p:nvPr/>
        </p:nvSpPr>
        <p:spPr>
          <a:xfrm>
            <a:off x="9845040" y="6117336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5" name="Text 183"/>
          <p:cNvSpPr/>
          <p:nvPr/>
        </p:nvSpPr>
        <p:spPr>
          <a:xfrm>
            <a:off x="10000488" y="6053328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(Day/Week/Month)</a:t>
            </a:r>
            <a:endParaRPr lang="en-US" sz="900" dirty="0"/>
          </a:p>
        </p:txBody>
      </p:sp>
      <p:sp>
        <p:nvSpPr>
          <p:cNvPr id="186" name="Shape 184"/>
          <p:cNvSpPr/>
          <p:nvPr/>
        </p:nvSpPr>
        <p:spPr>
          <a:xfrm>
            <a:off x="12105132" y="4178808"/>
            <a:ext cx="2232660" cy="2560320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2178284" y="4251960"/>
            <a:ext cx="20863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MODEL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DEFINITIONS</a:t>
            </a:r>
            <a:endParaRPr lang="en-US" sz="1000" dirty="0"/>
          </a:p>
        </p:txBody>
      </p:sp>
      <p:sp>
        <p:nvSpPr>
          <p:cNvPr id="188" name="Shape 186"/>
          <p:cNvSpPr/>
          <p:nvPr/>
        </p:nvSpPr>
        <p:spPr>
          <a:xfrm>
            <a:off x="12187428" y="475488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89" name="Text 187"/>
          <p:cNvSpPr/>
          <p:nvPr/>
        </p:nvSpPr>
        <p:spPr>
          <a:xfrm>
            <a:off x="12342876" y="469087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/ LookML / Cube Definitions</a:t>
            </a:r>
            <a:endParaRPr lang="en-US" sz="880" dirty="0"/>
          </a:p>
        </p:txBody>
      </p:sp>
      <p:sp>
        <p:nvSpPr>
          <p:cNvPr id="190" name="Shape 188"/>
          <p:cNvSpPr/>
          <p:nvPr/>
        </p:nvSpPr>
        <p:spPr>
          <a:xfrm>
            <a:off x="12187428" y="525780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1" name="Text 189"/>
          <p:cNvSpPr/>
          <p:nvPr/>
        </p:nvSpPr>
        <p:spPr>
          <a:xfrm>
            <a:off x="12342876" y="519379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Controlled (Git)</a:t>
            </a:r>
            <a:endParaRPr lang="en-US" sz="880" dirty="0"/>
          </a:p>
        </p:txBody>
      </p:sp>
      <p:sp>
        <p:nvSpPr>
          <p:cNvPr id="192" name="Shape 190"/>
          <p:cNvSpPr/>
          <p:nvPr/>
        </p:nvSpPr>
        <p:spPr>
          <a:xfrm>
            <a:off x="12187428" y="5760720"/>
            <a:ext cx="91440" cy="914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193" name="Text 191"/>
          <p:cNvSpPr/>
          <p:nvPr/>
        </p:nvSpPr>
        <p:spPr>
          <a:xfrm>
            <a:off x="12342876" y="5696712"/>
            <a:ext cx="190347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&amp; Governed</a:t>
            </a:r>
            <a:endParaRPr lang="en-US" sz="880" dirty="0"/>
          </a:p>
        </p:txBody>
      </p:sp>
      <p:sp>
        <p:nvSpPr>
          <p:cNvPr id="194" name="Shape 192"/>
          <p:cNvSpPr/>
          <p:nvPr/>
        </p:nvSpPr>
        <p:spPr>
          <a:xfrm>
            <a:off x="14987016" y="4343400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95" name="Text 193"/>
          <p:cNvSpPr/>
          <p:nvPr/>
        </p:nvSpPr>
        <p:spPr>
          <a:xfrm>
            <a:off x="15142464" y="4279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Playbooks</a:t>
            </a:r>
            <a:endParaRPr lang="en-US" sz="1000" dirty="0"/>
          </a:p>
        </p:txBody>
      </p:sp>
      <p:sp>
        <p:nvSpPr>
          <p:cNvPr id="196" name="Shape 194"/>
          <p:cNvSpPr/>
          <p:nvPr/>
        </p:nvSpPr>
        <p:spPr>
          <a:xfrm>
            <a:off x="14987016" y="4654296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97" name="Text 195"/>
          <p:cNvSpPr/>
          <p:nvPr/>
        </p:nvSpPr>
        <p:spPr>
          <a:xfrm>
            <a:off x="15142464" y="459028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Guidelines</a:t>
            </a:r>
            <a:endParaRPr lang="en-US" sz="1000" dirty="0"/>
          </a:p>
        </p:txBody>
      </p:sp>
      <p:sp>
        <p:nvSpPr>
          <p:cNvPr id="198" name="Shape 196"/>
          <p:cNvSpPr/>
          <p:nvPr/>
        </p:nvSpPr>
        <p:spPr>
          <a:xfrm>
            <a:off x="14987016" y="4965192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199" name="Text 197"/>
          <p:cNvSpPr/>
          <p:nvPr/>
        </p:nvSpPr>
        <p:spPr>
          <a:xfrm>
            <a:off x="15142464" y="490118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Age-based Messaging</a:t>
            </a:r>
            <a:endParaRPr lang="en-US" sz="1000" dirty="0"/>
          </a:p>
        </p:txBody>
      </p:sp>
      <p:sp>
        <p:nvSpPr>
          <p:cNvPr id="200" name="Shape 198"/>
          <p:cNvSpPr/>
          <p:nvPr/>
        </p:nvSpPr>
        <p:spPr>
          <a:xfrm>
            <a:off x="14987016" y="5276088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01" name="Text 199"/>
          <p:cNvSpPr/>
          <p:nvPr/>
        </p:nvSpPr>
        <p:spPr>
          <a:xfrm>
            <a:off x="15142464" y="521208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&amp; Creative Guidelines</a:t>
            </a:r>
            <a:endParaRPr lang="en-US" sz="1000" dirty="0"/>
          </a:p>
        </p:txBody>
      </p:sp>
      <p:sp>
        <p:nvSpPr>
          <p:cNvPr id="202" name="Shape 200"/>
          <p:cNvSpPr/>
          <p:nvPr/>
        </p:nvSpPr>
        <p:spPr>
          <a:xfrm>
            <a:off x="14987016" y="5586984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03" name="Text 201"/>
          <p:cNvSpPr/>
          <p:nvPr/>
        </p:nvSpPr>
        <p:spPr>
          <a:xfrm>
            <a:off x="15142464" y="55229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204" name="Shape 202"/>
          <p:cNvSpPr/>
          <p:nvPr/>
        </p:nvSpPr>
        <p:spPr>
          <a:xfrm>
            <a:off x="14987016" y="5897880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05" name="Text 203"/>
          <p:cNvSpPr/>
          <p:nvPr/>
        </p:nvSpPr>
        <p:spPr>
          <a:xfrm>
            <a:off x="15142464" y="58338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Legal Docs</a:t>
            </a:r>
            <a:endParaRPr lang="en-US" sz="1000" dirty="0"/>
          </a:p>
        </p:txBody>
      </p:sp>
      <p:sp>
        <p:nvSpPr>
          <p:cNvPr id="206" name="Shape 204"/>
          <p:cNvSpPr/>
          <p:nvPr/>
        </p:nvSpPr>
        <p:spPr>
          <a:xfrm>
            <a:off x="14987016" y="6208776"/>
            <a:ext cx="91440" cy="91440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07" name="Text 205"/>
          <p:cNvSpPr/>
          <p:nvPr/>
        </p:nvSpPr>
        <p:spPr>
          <a:xfrm>
            <a:off x="15142464" y="61447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Launch Docs</a:t>
            </a:r>
            <a:endParaRPr lang="en-US" sz="1000" dirty="0"/>
          </a:p>
        </p:txBody>
      </p:sp>
      <p:sp>
        <p:nvSpPr>
          <p:cNvPr id="208" name="Shape 206"/>
          <p:cNvSpPr/>
          <p:nvPr/>
        </p:nvSpPr>
        <p:spPr>
          <a:xfrm>
            <a:off x="7365492" y="3337560"/>
            <a:ext cx="0" cy="22860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09" name="Shape 207"/>
          <p:cNvSpPr/>
          <p:nvPr/>
        </p:nvSpPr>
        <p:spPr>
          <a:xfrm>
            <a:off x="14474952" y="5234940"/>
            <a:ext cx="320040" cy="0"/>
          </a:xfrm>
          <a:prstGeom prst="line">
            <a:avLst/>
          </a:prstGeom>
          <a:noFill/>
          <a:ln w="16510">
            <a:solidFill>
              <a:srgbClr val="444444"/>
            </a:solidFill>
            <a:prstDash val="solid"/>
            <a:headEnd type="triangle"/>
            <a:tailEnd type="triangle"/>
          </a:ln>
        </p:spPr>
      </p:sp>
      <p:sp>
        <p:nvSpPr>
          <p:cNvPr id="210" name="Shape 208"/>
          <p:cNvSpPr/>
          <p:nvPr/>
        </p:nvSpPr>
        <p:spPr>
          <a:xfrm>
            <a:off x="256032" y="7223760"/>
            <a:ext cx="342900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9050">
            <a:solidFill>
              <a:srgbClr val="3C8C4A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256032" y="7223760"/>
            <a:ext cx="3429000" cy="384048"/>
          </a:xfrm>
          <a:prstGeom prst="roundRect">
            <a:avLst>
              <a:gd name="adj" fmla="val 11905"/>
            </a:avLst>
          </a:prstGeom>
          <a:solidFill>
            <a:srgbClr val="1E6B3C"/>
          </a:solidFill>
          <a:ln/>
        </p:spPr>
      </p:sp>
      <p:sp>
        <p:nvSpPr>
          <p:cNvPr id="212" name="Text 210"/>
          <p:cNvSpPr/>
          <p:nvPr/>
        </p:nvSpPr>
        <p:spPr>
          <a:xfrm>
            <a:off x="347472" y="7223760"/>
            <a:ext cx="3246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DATA SOURCES</a:t>
            </a:r>
            <a:endParaRPr lang="en-US" sz="1200" dirty="0"/>
          </a:p>
        </p:txBody>
      </p:sp>
      <p:sp>
        <p:nvSpPr>
          <p:cNvPr id="213" name="Shape 211"/>
          <p:cNvSpPr/>
          <p:nvPr/>
        </p:nvSpPr>
        <p:spPr>
          <a:xfrm>
            <a:off x="448056" y="7772400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214" name="Text 212"/>
          <p:cNvSpPr/>
          <p:nvPr/>
        </p:nvSpPr>
        <p:spPr>
          <a:xfrm>
            <a:off x="603504" y="770839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Account  </a:t>
            </a:r>
            <a:pPr indent="0" marL="0">
              <a:buNone/>
            </a:pPr>
            <a:r>
              <a:rPr lang="en-US" sz="72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(Profiles, Devices, Preferences)</a:t>
            </a:r>
            <a:endParaRPr lang="en-US" sz="870" dirty="0"/>
          </a:p>
        </p:txBody>
      </p:sp>
      <p:sp>
        <p:nvSpPr>
          <p:cNvPr id="215" name="Shape 213"/>
          <p:cNvSpPr/>
          <p:nvPr/>
        </p:nvSpPr>
        <p:spPr>
          <a:xfrm>
            <a:off x="448056" y="8138160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216" name="Text 214"/>
          <p:cNvSpPr/>
          <p:nvPr/>
        </p:nvSpPr>
        <p:spPr>
          <a:xfrm>
            <a:off x="603504" y="807415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eStore  </a:t>
            </a:r>
            <a:pPr indent="0" marL="0">
              <a:buNone/>
            </a:pPr>
            <a:r>
              <a:rPr lang="en-US" sz="72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(Orders, Payments, Returns)</a:t>
            </a:r>
            <a:endParaRPr lang="en-US" sz="870" dirty="0"/>
          </a:p>
        </p:txBody>
      </p:sp>
      <p:sp>
        <p:nvSpPr>
          <p:cNvPr id="217" name="Shape 215"/>
          <p:cNvSpPr/>
          <p:nvPr/>
        </p:nvSpPr>
        <p:spPr>
          <a:xfrm>
            <a:off x="448056" y="8503920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218" name="Text 216"/>
          <p:cNvSpPr/>
          <p:nvPr/>
        </p:nvSpPr>
        <p:spPr>
          <a:xfrm>
            <a:off x="603504" y="843991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/ Campaign Data  </a:t>
            </a:r>
            <a:pPr indent="0" marL="0">
              <a:buNone/>
            </a:pPr>
            <a:r>
              <a:rPr lang="en-US" sz="72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(Email, SMS, Push, Conversions)</a:t>
            </a:r>
            <a:endParaRPr lang="en-US" sz="870" dirty="0"/>
          </a:p>
        </p:txBody>
      </p:sp>
      <p:sp>
        <p:nvSpPr>
          <p:cNvPr id="219" name="Shape 217"/>
          <p:cNvSpPr/>
          <p:nvPr/>
        </p:nvSpPr>
        <p:spPr>
          <a:xfrm>
            <a:off x="448056" y="8869680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220" name="Text 218"/>
          <p:cNvSpPr/>
          <p:nvPr/>
        </p:nvSpPr>
        <p:spPr>
          <a:xfrm>
            <a:off x="603504" y="880567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/ App Analytics  </a:t>
            </a:r>
            <a:pPr indent="0" marL="0">
              <a:buNone/>
            </a:pPr>
            <a:r>
              <a:rPr lang="en-US" sz="72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(Page Views, Searches, Behavior)</a:t>
            </a:r>
            <a:endParaRPr lang="en-US" sz="870" dirty="0"/>
          </a:p>
        </p:txBody>
      </p:sp>
      <p:sp>
        <p:nvSpPr>
          <p:cNvPr id="221" name="Shape 219"/>
          <p:cNvSpPr/>
          <p:nvPr/>
        </p:nvSpPr>
        <p:spPr>
          <a:xfrm>
            <a:off x="448056" y="9235440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222" name="Text 220"/>
          <p:cNvSpPr/>
          <p:nvPr/>
        </p:nvSpPr>
        <p:spPr>
          <a:xfrm>
            <a:off x="603504" y="917143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Store  </a:t>
            </a:r>
            <a:pPr indent="0" marL="0">
              <a:buNone/>
            </a:pPr>
            <a:r>
              <a:rPr lang="en-US" sz="72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(CLV, Propensity, Rec Score, etc.)</a:t>
            </a:r>
            <a:endParaRPr lang="en-US" sz="870" dirty="0"/>
          </a:p>
        </p:txBody>
      </p:sp>
      <p:sp>
        <p:nvSpPr>
          <p:cNvPr id="223" name="Shape 221"/>
          <p:cNvSpPr/>
          <p:nvPr/>
        </p:nvSpPr>
        <p:spPr>
          <a:xfrm>
            <a:off x="448056" y="9601200"/>
            <a:ext cx="91440" cy="91440"/>
          </a:xfrm>
          <a:prstGeom prst="ellipse">
            <a:avLst/>
          </a:prstGeom>
          <a:solidFill>
            <a:srgbClr val="3C8C4A"/>
          </a:solidFill>
          <a:ln/>
        </p:spPr>
      </p:sp>
      <p:sp>
        <p:nvSpPr>
          <p:cNvPr id="224" name="Text 222"/>
          <p:cNvSpPr/>
          <p:nvPr/>
        </p:nvSpPr>
        <p:spPr>
          <a:xfrm>
            <a:off x="603504" y="9537192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Models  </a:t>
            </a:r>
            <a:pPr indent="0" marL="0">
              <a:buNone/>
            </a:pPr>
            <a:r>
              <a:rPr lang="en-US" sz="72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(Next Best Product, Affinity Scores)</a:t>
            </a:r>
            <a:endParaRPr lang="en-US" sz="870" dirty="0"/>
          </a:p>
        </p:txBody>
      </p:sp>
      <p:sp>
        <p:nvSpPr>
          <p:cNvPr id="225" name="Shape 223"/>
          <p:cNvSpPr/>
          <p:nvPr/>
        </p:nvSpPr>
        <p:spPr>
          <a:xfrm>
            <a:off x="4005072" y="7223760"/>
            <a:ext cx="8869680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9050">
            <a:solidFill>
              <a:srgbClr val="1E8A8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005072" y="7223760"/>
            <a:ext cx="8869680" cy="384048"/>
          </a:xfrm>
          <a:prstGeom prst="roundRect">
            <a:avLst>
              <a:gd name="adj" fmla="val 11905"/>
            </a:avLst>
          </a:prstGeom>
          <a:solidFill>
            <a:srgbClr val="1E8A8A"/>
          </a:solidFill>
          <a:ln/>
        </p:spPr>
      </p:sp>
      <p:sp>
        <p:nvSpPr>
          <p:cNvPr id="227" name="Text 225"/>
          <p:cNvSpPr/>
          <p:nvPr/>
        </p:nvSpPr>
        <p:spPr>
          <a:xfrm>
            <a:off x="4096512" y="722376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GOLDEN CUSTOMER 360 (Trusted, Curated &amp; Unified)</a:t>
            </a:r>
            <a:endParaRPr lang="en-US" sz="1250" dirty="0"/>
          </a:p>
        </p:txBody>
      </p:sp>
      <p:sp>
        <p:nvSpPr>
          <p:cNvPr id="228" name="Shape 226"/>
          <p:cNvSpPr/>
          <p:nvPr/>
        </p:nvSpPr>
        <p:spPr>
          <a:xfrm>
            <a:off x="4400296" y="7790688"/>
            <a:ext cx="438912" cy="43891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229" name="Text 227"/>
          <p:cNvSpPr/>
          <p:nvPr/>
        </p:nvSpPr>
        <p:spPr>
          <a:xfrm>
            <a:off x="4400296" y="7790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900" dirty="0"/>
          </a:p>
        </p:txBody>
      </p:sp>
      <p:sp>
        <p:nvSpPr>
          <p:cNvPr id="230" name="Text 228"/>
          <p:cNvSpPr/>
          <p:nvPr/>
        </p:nvSpPr>
        <p:spPr>
          <a:xfrm>
            <a:off x="4169664" y="8321040"/>
            <a:ext cx="90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ID</a:t>
            </a:r>
            <a:endParaRPr lang="en-US" sz="720" dirty="0"/>
          </a:p>
        </p:txBody>
      </p:sp>
      <p:sp>
        <p:nvSpPr>
          <p:cNvPr id="231" name="Shape 229"/>
          <p:cNvSpPr/>
          <p:nvPr/>
        </p:nvSpPr>
        <p:spPr>
          <a:xfrm>
            <a:off x="5355336" y="7790688"/>
            <a:ext cx="438912" cy="43891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232" name="Text 230"/>
          <p:cNvSpPr/>
          <p:nvPr/>
        </p:nvSpPr>
        <p:spPr>
          <a:xfrm>
            <a:off x="5355336" y="7790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900" dirty="0"/>
          </a:p>
        </p:txBody>
      </p:sp>
      <p:sp>
        <p:nvSpPr>
          <p:cNvPr id="233" name="Text 231"/>
          <p:cNvSpPr/>
          <p:nvPr/>
        </p:nvSpPr>
        <p:spPr>
          <a:xfrm>
            <a:off x="5124704" y="8321040"/>
            <a:ext cx="90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&amp;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720" dirty="0"/>
          </a:p>
        </p:txBody>
      </p:sp>
      <p:sp>
        <p:nvSpPr>
          <p:cNvPr id="234" name="Shape 232"/>
          <p:cNvSpPr/>
          <p:nvPr/>
        </p:nvSpPr>
        <p:spPr>
          <a:xfrm>
            <a:off x="6310376" y="7790688"/>
            <a:ext cx="438912" cy="43891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235" name="Text 233"/>
          <p:cNvSpPr/>
          <p:nvPr/>
        </p:nvSpPr>
        <p:spPr>
          <a:xfrm>
            <a:off x="6310376" y="7790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</a:t>
            </a:r>
            <a:endParaRPr lang="en-US" sz="900" dirty="0"/>
          </a:p>
        </p:txBody>
      </p:sp>
      <p:sp>
        <p:nvSpPr>
          <p:cNvPr id="236" name="Text 234"/>
          <p:cNvSpPr/>
          <p:nvPr/>
        </p:nvSpPr>
        <p:spPr>
          <a:xfrm>
            <a:off x="6079744" y="8321040"/>
            <a:ext cx="90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Registered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</a:t>
            </a:r>
            <a:endParaRPr lang="en-US" sz="720" dirty="0"/>
          </a:p>
        </p:txBody>
      </p:sp>
      <p:sp>
        <p:nvSpPr>
          <p:cNvPr id="237" name="Shape 235"/>
          <p:cNvSpPr/>
          <p:nvPr/>
        </p:nvSpPr>
        <p:spPr>
          <a:xfrm>
            <a:off x="7265416" y="7790688"/>
            <a:ext cx="438912" cy="43891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238" name="Text 236"/>
          <p:cNvSpPr/>
          <p:nvPr/>
        </p:nvSpPr>
        <p:spPr>
          <a:xfrm>
            <a:off x="7265416" y="7790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</a:t>
            </a:r>
            <a:endParaRPr lang="en-US" sz="900" dirty="0"/>
          </a:p>
        </p:txBody>
      </p:sp>
      <p:sp>
        <p:nvSpPr>
          <p:cNvPr id="239" name="Text 237"/>
          <p:cNvSpPr/>
          <p:nvPr/>
        </p:nvSpPr>
        <p:spPr>
          <a:xfrm>
            <a:off x="7034784" y="8321040"/>
            <a:ext cx="90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20" dirty="0"/>
          </a:p>
        </p:txBody>
      </p:sp>
      <p:sp>
        <p:nvSpPr>
          <p:cNvPr id="240" name="Shape 238"/>
          <p:cNvSpPr/>
          <p:nvPr/>
        </p:nvSpPr>
        <p:spPr>
          <a:xfrm>
            <a:off x="8220456" y="7790688"/>
            <a:ext cx="438912" cy="43891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241" name="Text 239"/>
          <p:cNvSpPr/>
          <p:nvPr/>
        </p:nvSpPr>
        <p:spPr>
          <a:xfrm>
            <a:off x="8220456" y="7790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900" dirty="0"/>
          </a:p>
        </p:txBody>
      </p:sp>
      <p:sp>
        <p:nvSpPr>
          <p:cNvPr id="242" name="Text 240"/>
          <p:cNvSpPr/>
          <p:nvPr/>
        </p:nvSpPr>
        <p:spPr>
          <a:xfrm>
            <a:off x="7989824" y="8321040"/>
            <a:ext cx="90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Signals</a:t>
            </a:r>
            <a:endParaRPr lang="en-US" sz="720" dirty="0"/>
          </a:p>
        </p:txBody>
      </p:sp>
      <p:sp>
        <p:nvSpPr>
          <p:cNvPr id="243" name="Shape 241"/>
          <p:cNvSpPr/>
          <p:nvPr/>
        </p:nvSpPr>
        <p:spPr>
          <a:xfrm>
            <a:off x="9175496" y="7790688"/>
            <a:ext cx="438912" cy="43891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244" name="Text 242"/>
          <p:cNvSpPr/>
          <p:nvPr/>
        </p:nvSpPr>
        <p:spPr>
          <a:xfrm>
            <a:off x="9175496" y="7790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</a:t>
            </a:r>
            <a:endParaRPr lang="en-US" sz="900" dirty="0"/>
          </a:p>
        </p:txBody>
      </p:sp>
      <p:sp>
        <p:nvSpPr>
          <p:cNvPr id="245" name="Text 243"/>
          <p:cNvSpPr/>
          <p:nvPr/>
        </p:nvSpPr>
        <p:spPr>
          <a:xfrm>
            <a:off x="8944864" y="8321040"/>
            <a:ext cx="90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CLV &amp;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</a:t>
            </a:r>
            <a:endParaRPr lang="en-US" sz="720" dirty="0"/>
          </a:p>
        </p:txBody>
      </p:sp>
      <p:sp>
        <p:nvSpPr>
          <p:cNvPr id="246" name="Shape 244"/>
          <p:cNvSpPr/>
          <p:nvPr/>
        </p:nvSpPr>
        <p:spPr>
          <a:xfrm>
            <a:off x="10130536" y="7790688"/>
            <a:ext cx="438912" cy="43891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247" name="Text 245"/>
          <p:cNvSpPr/>
          <p:nvPr/>
        </p:nvSpPr>
        <p:spPr>
          <a:xfrm>
            <a:off x="10130536" y="7790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</a:t>
            </a:r>
            <a:endParaRPr lang="en-US" sz="900" dirty="0"/>
          </a:p>
        </p:txBody>
      </p:sp>
      <p:sp>
        <p:nvSpPr>
          <p:cNvPr id="248" name="Text 246"/>
          <p:cNvSpPr/>
          <p:nvPr/>
        </p:nvSpPr>
        <p:spPr>
          <a:xfrm>
            <a:off x="9899904" y="8321040"/>
            <a:ext cx="90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</a:t>
            </a:r>
            <a:endParaRPr lang="en-US" sz="720" dirty="0"/>
          </a:p>
        </p:txBody>
      </p:sp>
      <p:sp>
        <p:nvSpPr>
          <p:cNvPr id="249" name="Shape 247"/>
          <p:cNvSpPr/>
          <p:nvPr/>
        </p:nvSpPr>
        <p:spPr>
          <a:xfrm>
            <a:off x="11085576" y="7790688"/>
            <a:ext cx="438912" cy="43891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250" name="Text 248"/>
          <p:cNvSpPr/>
          <p:nvPr/>
        </p:nvSpPr>
        <p:spPr>
          <a:xfrm>
            <a:off x="11085576" y="7790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</a:t>
            </a:r>
            <a:endParaRPr lang="en-US" sz="900" dirty="0"/>
          </a:p>
        </p:txBody>
      </p:sp>
      <p:sp>
        <p:nvSpPr>
          <p:cNvPr id="251" name="Text 249"/>
          <p:cNvSpPr/>
          <p:nvPr/>
        </p:nvSpPr>
        <p:spPr>
          <a:xfrm>
            <a:off x="10854944" y="8321040"/>
            <a:ext cx="90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720" dirty="0"/>
          </a:p>
        </p:txBody>
      </p:sp>
      <p:sp>
        <p:nvSpPr>
          <p:cNvPr id="252" name="Shape 250"/>
          <p:cNvSpPr/>
          <p:nvPr/>
        </p:nvSpPr>
        <p:spPr>
          <a:xfrm>
            <a:off x="12040616" y="7790688"/>
            <a:ext cx="438912" cy="438912"/>
          </a:xfrm>
          <a:prstGeom prst="ellipse">
            <a:avLst/>
          </a:prstGeom>
          <a:solidFill>
            <a:srgbClr val="1E8A8A"/>
          </a:solidFill>
          <a:ln/>
        </p:spPr>
      </p:sp>
      <p:sp>
        <p:nvSpPr>
          <p:cNvPr id="253" name="Text 251"/>
          <p:cNvSpPr/>
          <p:nvPr/>
        </p:nvSpPr>
        <p:spPr>
          <a:xfrm>
            <a:off x="12040616" y="7790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</a:t>
            </a:r>
            <a:endParaRPr lang="en-US" sz="900" dirty="0"/>
          </a:p>
        </p:txBody>
      </p:sp>
      <p:sp>
        <p:nvSpPr>
          <p:cNvPr id="254" name="Text 252"/>
          <p:cNvSpPr/>
          <p:nvPr/>
        </p:nvSpPr>
        <p:spPr>
          <a:xfrm>
            <a:off x="11809984" y="8321040"/>
            <a:ext cx="900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Preferences</a:t>
            </a:r>
            <a:endParaRPr lang="en-US" sz="720" dirty="0"/>
          </a:p>
        </p:txBody>
      </p:sp>
      <p:sp>
        <p:nvSpPr>
          <p:cNvPr id="255" name="Shape 253"/>
          <p:cNvSpPr/>
          <p:nvPr/>
        </p:nvSpPr>
        <p:spPr>
          <a:xfrm>
            <a:off x="4142232" y="9308592"/>
            <a:ext cx="8595360" cy="384048"/>
          </a:xfrm>
          <a:prstGeom prst="roundRect">
            <a:avLst>
              <a:gd name="adj" fmla="val 11905"/>
            </a:avLst>
          </a:prstGeom>
          <a:solidFill>
            <a:srgbClr val="FBE7C6"/>
          </a:solidFill>
          <a:ln w="12700">
            <a:solidFill>
              <a:srgbClr val="E5C084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4187952" y="930859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6B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Checks   •   Deduplication   •   Standardization   •   Enrichment   •   Privacy &amp; Consent   •   Governance</a:t>
            </a:r>
            <a:endParaRPr lang="en-US" sz="930" dirty="0"/>
          </a:p>
        </p:txBody>
      </p:sp>
      <p:sp>
        <p:nvSpPr>
          <p:cNvPr id="257" name="Shape 255"/>
          <p:cNvSpPr/>
          <p:nvPr/>
        </p:nvSpPr>
        <p:spPr>
          <a:xfrm>
            <a:off x="13194792" y="7223760"/>
            <a:ext cx="4837176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9050">
            <a:solidFill>
              <a:srgbClr val="1F3B73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13194792" y="7223760"/>
            <a:ext cx="4837176" cy="384048"/>
          </a:xfrm>
          <a:prstGeom prst="roundRect">
            <a:avLst>
              <a:gd name="adj" fmla="val 11905"/>
            </a:avLst>
          </a:prstGeom>
          <a:solidFill>
            <a:srgbClr val="16294F"/>
          </a:solidFill>
          <a:ln/>
        </p:spPr>
      </p:sp>
      <p:sp>
        <p:nvSpPr>
          <p:cNvPr id="259" name="Text 257"/>
          <p:cNvSpPr/>
          <p:nvPr/>
        </p:nvSpPr>
        <p:spPr>
          <a:xfrm>
            <a:off x="13286232" y="7223760"/>
            <a:ext cx="4654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DATA PLATFORM</a:t>
            </a:r>
            <a:endParaRPr lang="en-US" sz="1200" dirty="0"/>
          </a:p>
        </p:txBody>
      </p:sp>
      <p:sp>
        <p:nvSpPr>
          <p:cNvPr id="260" name="Shape 258"/>
          <p:cNvSpPr/>
          <p:nvPr/>
        </p:nvSpPr>
        <p:spPr>
          <a:xfrm>
            <a:off x="13386816" y="7836408"/>
            <a:ext cx="91440" cy="91440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61" name="Text 259"/>
          <p:cNvSpPr/>
          <p:nvPr/>
        </p:nvSpPr>
        <p:spPr>
          <a:xfrm>
            <a:off x="13542264" y="7772400"/>
            <a:ext cx="42885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/ Data Warehouse</a:t>
            </a:r>
            <a:endParaRPr lang="en-US" sz="1000" dirty="0"/>
          </a:p>
        </p:txBody>
      </p:sp>
      <p:sp>
        <p:nvSpPr>
          <p:cNvPr id="262" name="Shape 260"/>
          <p:cNvSpPr/>
          <p:nvPr/>
        </p:nvSpPr>
        <p:spPr>
          <a:xfrm>
            <a:off x="13386816" y="8147304"/>
            <a:ext cx="91440" cy="91440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63" name="Text 261"/>
          <p:cNvSpPr/>
          <p:nvPr/>
        </p:nvSpPr>
        <p:spPr>
          <a:xfrm>
            <a:off x="13542264" y="8083296"/>
            <a:ext cx="42885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Lake (GCS)</a:t>
            </a:r>
            <a:endParaRPr lang="en-US" sz="1000" dirty="0"/>
          </a:p>
        </p:txBody>
      </p:sp>
      <p:sp>
        <p:nvSpPr>
          <p:cNvPr id="264" name="Shape 262"/>
          <p:cNvSpPr/>
          <p:nvPr/>
        </p:nvSpPr>
        <p:spPr>
          <a:xfrm>
            <a:off x="13386816" y="8458200"/>
            <a:ext cx="91440" cy="91440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65" name="Text 263"/>
          <p:cNvSpPr/>
          <p:nvPr/>
        </p:nvSpPr>
        <p:spPr>
          <a:xfrm>
            <a:off x="13542264" y="8394192"/>
            <a:ext cx="42885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/ ELT Pipelines (Dataflow)</a:t>
            </a:r>
            <a:endParaRPr lang="en-US" sz="1000" dirty="0"/>
          </a:p>
        </p:txBody>
      </p:sp>
      <p:sp>
        <p:nvSpPr>
          <p:cNvPr id="266" name="Shape 264"/>
          <p:cNvSpPr/>
          <p:nvPr/>
        </p:nvSpPr>
        <p:spPr>
          <a:xfrm>
            <a:off x="13386816" y="8769096"/>
            <a:ext cx="91440" cy="91440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67" name="Text 265"/>
          <p:cNvSpPr/>
          <p:nvPr/>
        </p:nvSpPr>
        <p:spPr>
          <a:xfrm>
            <a:off x="13542264" y="8705088"/>
            <a:ext cx="42885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(Airflow)</a:t>
            </a:r>
            <a:endParaRPr lang="en-US" sz="1000" dirty="0"/>
          </a:p>
        </p:txBody>
      </p:sp>
      <p:sp>
        <p:nvSpPr>
          <p:cNvPr id="268" name="Shape 266"/>
          <p:cNvSpPr/>
          <p:nvPr/>
        </p:nvSpPr>
        <p:spPr>
          <a:xfrm>
            <a:off x="13386816" y="9079992"/>
            <a:ext cx="91440" cy="91440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69" name="Text 267"/>
          <p:cNvSpPr/>
          <p:nvPr/>
        </p:nvSpPr>
        <p:spPr>
          <a:xfrm>
            <a:off x="13542264" y="9015984"/>
            <a:ext cx="42885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Catalog &amp; Lineage (DataHub)</a:t>
            </a:r>
            <a:endParaRPr lang="en-US" sz="1000" dirty="0"/>
          </a:p>
        </p:txBody>
      </p:sp>
      <p:sp>
        <p:nvSpPr>
          <p:cNvPr id="270" name="Shape 268"/>
          <p:cNvSpPr/>
          <p:nvPr/>
        </p:nvSpPr>
        <p:spPr>
          <a:xfrm>
            <a:off x="3730752" y="8549640"/>
            <a:ext cx="2286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71" name="Shape 269"/>
          <p:cNvSpPr/>
          <p:nvPr/>
        </p:nvSpPr>
        <p:spPr>
          <a:xfrm>
            <a:off x="12920472" y="8549640"/>
            <a:ext cx="228600" cy="0"/>
          </a:xfrm>
          <a:prstGeom prst="line">
            <a:avLst/>
          </a:prstGeom>
          <a:noFill/>
          <a:ln w="19050">
            <a:solidFill>
              <a:srgbClr val="444444"/>
            </a:solidFill>
            <a:prstDash val="solid"/>
            <a:tailEnd type="triangle"/>
          </a:ln>
        </p:spPr>
      </p:sp>
      <p:sp>
        <p:nvSpPr>
          <p:cNvPr id="272" name="Shape 270"/>
          <p:cNvSpPr/>
          <p:nvPr/>
        </p:nvSpPr>
        <p:spPr>
          <a:xfrm>
            <a:off x="301752" y="3291840"/>
            <a:ext cx="0" cy="3931920"/>
          </a:xfrm>
          <a:prstGeom prst="line">
            <a:avLst/>
          </a:prstGeom>
          <a:noFill/>
          <a:ln w="12700">
            <a:solidFill>
              <a:srgbClr val="999999"/>
            </a:solidFill>
            <a:prstDash val="dash"/>
          </a:ln>
        </p:spPr>
      </p:sp>
      <p:sp>
        <p:nvSpPr>
          <p:cNvPr id="273" name="Shape 271"/>
          <p:cNvSpPr/>
          <p:nvPr/>
        </p:nvSpPr>
        <p:spPr>
          <a:xfrm>
            <a:off x="256032" y="10195560"/>
            <a:ext cx="11795760" cy="1691640"/>
          </a:xfrm>
          <a:prstGeom prst="roundRect">
            <a:avLst>
              <a:gd name="adj" fmla="val 2703"/>
            </a:avLst>
          </a:prstGeom>
          <a:solidFill>
            <a:srgbClr val="F4F2FA"/>
          </a:solidFill>
          <a:ln w="15875">
            <a:solidFill>
              <a:srgbClr val="B9A8D9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256032" y="10268712"/>
            <a:ext cx="11795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9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WORKFLOW</a:t>
            </a:r>
            <a:endParaRPr lang="en-US" sz="1300" dirty="0"/>
          </a:p>
        </p:txBody>
      </p:sp>
      <p:sp>
        <p:nvSpPr>
          <p:cNvPr id="275" name="Shape 273"/>
          <p:cNvSpPr/>
          <p:nvPr/>
        </p:nvSpPr>
        <p:spPr>
          <a:xfrm>
            <a:off x="438912" y="10634472"/>
            <a:ext cx="144475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502920" y="10725912"/>
            <a:ext cx="292608" cy="292608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77" name="Text 275"/>
          <p:cNvSpPr/>
          <p:nvPr/>
        </p:nvSpPr>
        <p:spPr>
          <a:xfrm>
            <a:off x="502920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278" name="Shape 276"/>
          <p:cNvSpPr/>
          <p:nvPr/>
        </p:nvSpPr>
        <p:spPr>
          <a:xfrm>
            <a:off x="1536192" y="10725912"/>
            <a:ext cx="292608" cy="29260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79" name="Text 277"/>
          <p:cNvSpPr/>
          <p:nvPr/>
        </p:nvSpPr>
        <p:spPr>
          <a:xfrm>
            <a:off x="1536192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</a:t>
            </a:r>
            <a:endParaRPr lang="en-US" sz="1200" dirty="0"/>
          </a:p>
        </p:txBody>
      </p:sp>
      <p:sp>
        <p:nvSpPr>
          <p:cNvPr id="280" name="Text 278"/>
          <p:cNvSpPr/>
          <p:nvPr/>
        </p:nvSpPr>
        <p:spPr>
          <a:xfrm>
            <a:off x="484632" y="1109167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asks a business question (in natural language)</a:t>
            </a:r>
            <a:endParaRPr lang="en-US" sz="760" dirty="0"/>
          </a:p>
        </p:txBody>
      </p:sp>
      <p:sp>
        <p:nvSpPr>
          <p:cNvPr id="281" name="Shape 279"/>
          <p:cNvSpPr/>
          <p:nvPr/>
        </p:nvSpPr>
        <p:spPr>
          <a:xfrm>
            <a:off x="1920240" y="10972800"/>
            <a:ext cx="237744" cy="0"/>
          </a:xfrm>
          <a:prstGeom prst="line">
            <a:avLst/>
          </a:prstGeom>
          <a:noFill/>
          <a:ln w="1651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82" name="Shape 280"/>
          <p:cNvSpPr/>
          <p:nvPr/>
        </p:nvSpPr>
        <p:spPr>
          <a:xfrm>
            <a:off x="2084832" y="10634472"/>
            <a:ext cx="144475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2148840" y="10725912"/>
            <a:ext cx="292608" cy="292608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84" name="Text 282"/>
          <p:cNvSpPr/>
          <p:nvPr/>
        </p:nvSpPr>
        <p:spPr>
          <a:xfrm>
            <a:off x="2148840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85" name="Shape 283"/>
          <p:cNvSpPr/>
          <p:nvPr/>
        </p:nvSpPr>
        <p:spPr>
          <a:xfrm>
            <a:off x="3182112" y="10725912"/>
            <a:ext cx="292608" cy="29260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86" name="Text 284"/>
          <p:cNvSpPr/>
          <p:nvPr/>
        </p:nvSpPr>
        <p:spPr>
          <a:xfrm>
            <a:off x="3182112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287" name="Text 285"/>
          <p:cNvSpPr/>
          <p:nvPr/>
        </p:nvSpPr>
        <p:spPr>
          <a:xfrm>
            <a:off x="2130552" y="1109167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understands intent and extracts key concepts</a:t>
            </a:r>
            <a:endParaRPr lang="en-US" sz="760" dirty="0"/>
          </a:p>
        </p:txBody>
      </p:sp>
      <p:sp>
        <p:nvSpPr>
          <p:cNvPr id="288" name="Shape 286"/>
          <p:cNvSpPr/>
          <p:nvPr/>
        </p:nvSpPr>
        <p:spPr>
          <a:xfrm>
            <a:off x="3566160" y="10972800"/>
            <a:ext cx="237744" cy="0"/>
          </a:xfrm>
          <a:prstGeom prst="line">
            <a:avLst/>
          </a:prstGeom>
          <a:noFill/>
          <a:ln w="1651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89" name="Shape 287"/>
          <p:cNvSpPr/>
          <p:nvPr/>
        </p:nvSpPr>
        <p:spPr>
          <a:xfrm>
            <a:off x="3730752" y="10634472"/>
            <a:ext cx="144475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3794760" y="10725912"/>
            <a:ext cx="292608" cy="292608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91" name="Text 289"/>
          <p:cNvSpPr/>
          <p:nvPr/>
        </p:nvSpPr>
        <p:spPr>
          <a:xfrm>
            <a:off x="3794760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92" name="Shape 290"/>
          <p:cNvSpPr/>
          <p:nvPr/>
        </p:nvSpPr>
        <p:spPr>
          <a:xfrm>
            <a:off x="4828032" y="10725912"/>
            <a:ext cx="292608" cy="29260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293" name="Text 291"/>
          <p:cNvSpPr/>
          <p:nvPr/>
        </p:nvSpPr>
        <p:spPr>
          <a:xfrm>
            <a:off x="4828032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200" dirty="0"/>
          </a:p>
        </p:txBody>
      </p:sp>
      <p:sp>
        <p:nvSpPr>
          <p:cNvPr id="294" name="Text 292"/>
          <p:cNvSpPr/>
          <p:nvPr/>
        </p:nvSpPr>
        <p:spPr>
          <a:xfrm>
            <a:off x="3776472" y="1109167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Layer Engine resolves business meaning &amp; metadata</a:t>
            </a:r>
            <a:endParaRPr lang="en-US" sz="760" dirty="0"/>
          </a:p>
        </p:txBody>
      </p:sp>
      <p:sp>
        <p:nvSpPr>
          <p:cNvPr id="295" name="Shape 293"/>
          <p:cNvSpPr/>
          <p:nvPr/>
        </p:nvSpPr>
        <p:spPr>
          <a:xfrm>
            <a:off x="5212080" y="10972800"/>
            <a:ext cx="237744" cy="0"/>
          </a:xfrm>
          <a:prstGeom prst="line">
            <a:avLst/>
          </a:prstGeom>
          <a:noFill/>
          <a:ln w="1651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96" name="Shape 294"/>
          <p:cNvSpPr/>
          <p:nvPr/>
        </p:nvSpPr>
        <p:spPr>
          <a:xfrm>
            <a:off x="5376672" y="10634472"/>
            <a:ext cx="144475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440680" y="10725912"/>
            <a:ext cx="292608" cy="292608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298" name="Text 296"/>
          <p:cNvSpPr/>
          <p:nvPr/>
        </p:nvSpPr>
        <p:spPr>
          <a:xfrm>
            <a:off x="5440680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9" name="Shape 297"/>
          <p:cNvSpPr/>
          <p:nvPr/>
        </p:nvSpPr>
        <p:spPr>
          <a:xfrm>
            <a:off x="6473952" y="10725912"/>
            <a:ext cx="292608" cy="29260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00" name="Text 298"/>
          <p:cNvSpPr/>
          <p:nvPr/>
        </p:nvSpPr>
        <p:spPr>
          <a:xfrm>
            <a:off x="6473952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1200" dirty="0"/>
          </a:p>
        </p:txBody>
      </p:sp>
      <p:sp>
        <p:nvSpPr>
          <p:cNvPr id="301" name="Text 299"/>
          <p:cNvSpPr/>
          <p:nvPr/>
        </p:nvSpPr>
        <p:spPr>
          <a:xfrm>
            <a:off x="5422392" y="1109167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Engine builds logical query plan</a:t>
            </a:r>
            <a:endParaRPr lang="en-US" sz="760" dirty="0"/>
          </a:p>
        </p:txBody>
      </p:sp>
      <p:sp>
        <p:nvSpPr>
          <p:cNvPr id="302" name="Shape 300"/>
          <p:cNvSpPr/>
          <p:nvPr/>
        </p:nvSpPr>
        <p:spPr>
          <a:xfrm>
            <a:off x="6858000" y="10972800"/>
            <a:ext cx="237744" cy="0"/>
          </a:xfrm>
          <a:prstGeom prst="line">
            <a:avLst/>
          </a:prstGeom>
          <a:noFill/>
          <a:ln w="1651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03" name="Shape 301"/>
          <p:cNvSpPr/>
          <p:nvPr/>
        </p:nvSpPr>
        <p:spPr>
          <a:xfrm>
            <a:off x="7022592" y="10634472"/>
            <a:ext cx="144475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7086600" y="10725912"/>
            <a:ext cx="292608" cy="292608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05" name="Text 303"/>
          <p:cNvSpPr/>
          <p:nvPr/>
        </p:nvSpPr>
        <p:spPr>
          <a:xfrm>
            <a:off x="7086600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06" name="Shape 304"/>
          <p:cNvSpPr/>
          <p:nvPr/>
        </p:nvSpPr>
        <p:spPr>
          <a:xfrm>
            <a:off x="8119872" y="10725912"/>
            <a:ext cx="292608" cy="29260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07" name="Text 305"/>
          <p:cNvSpPr/>
          <p:nvPr/>
        </p:nvSpPr>
        <p:spPr>
          <a:xfrm>
            <a:off x="8119872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200" dirty="0"/>
          </a:p>
        </p:txBody>
      </p:sp>
      <p:sp>
        <p:nvSpPr>
          <p:cNvPr id="308" name="Text 306"/>
          <p:cNvSpPr/>
          <p:nvPr/>
        </p:nvSpPr>
        <p:spPr>
          <a:xfrm>
            <a:off x="7068312" y="1109167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Generation Engine creates optimized SQL</a:t>
            </a:r>
            <a:endParaRPr lang="en-US" sz="760" dirty="0"/>
          </a:p>
        </p:txBody>
      </p:sp>
      <p:sp>
        <p:nvSpPr>
          <p:cNvPr id="309" name="Shape 307"/>
          <p:cNvSpPr/>
          <p:nvPr/>
        </p:nvSpPr>
        <p:spPr>
          <a:xfrm>
            <a:off x="8503920" y="10972800"/>
            <a:ext cx="237744" cy="0"/>
          </a:xfrm>
          <a:prstGeom prst="line">
            <a:avLst/>
          </a:prstGeom>
          <a:noFill/>
          <a:ln w="1651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10" name="Shape 308"/>
          <p:cNvSpPr/>
          <p:nvPr/>
        </p:nvSpPr>
        <p:spPr>
          <a:xfrm>
            <a:off x="8668512" y="10634472"/>
            <a:ext cx="144475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8732520" y="10725912"/>
            <a:ext cx="292608" cy="292608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12" name="Text 310"/>
          <p:cNvSpPr/>
          <p:nvPr/>
        </p:nvSpPr>
        <p:spPr>
          <a:xfrm>
            <a:off x="8732520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13" name="Shape 311"/>
          <p:cNvSpPr/>
          <p:nvPr/>
        </p:nvSpPr>
        <p:spPr>
          <a:xfrm>
            <a:off x="9765792" y="10725912"/>
            <a:ext cx="292608" cy="29260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14" name="Text 312"/>
          <p:cNvSpPr/>
          <p:nvPr/>
        </p:nvSpPr>
        <p:spPr>
          <a:xfrm>
            <a:off x="9765792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⬢</a:t>
            </a:r>
            <a:endParaRPr lang="en-US" sz="1200" dirty="0"/>
          </a:p>
        </p:txBody>
      </p:sp>
      <p:sp>
        <p:nvSpPr>
          <p:cNvPr id="315" name="Text 313"/>
          <p:cNvSpPr/>
          <p:nvPr/>
        </p:nvSpPr>
        <p:spPr>
          <a:xfrm>
            <a:off x="8714232" y="1109167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runs in Data Warehouse (BigQuery)</a:t>
            </a:r>
            <a:endParaRPr lang="en-US" sz="760" dirty="0"/>
          </a:p>
        </p:txBody>
      </p:sp>
      <p:sp>
        <p:nvSpPr>
          <p:cNvPr id="316" name="Shape 314"/>
          <p:cNvSpPr/>
          <p:nvPr/>
        </p:nvSpPr>
        <p:spPr>
          <a:xfrm>
            <a:off x="10149840" y="10972800"/>
            <a:ext cx="237744" cy="0"/>
          </a:xfrm>
          <a:prstGeom prst="line">
            <a:avLst/>
          </a:prstGeom>
          <a:noFill/>
          <a:ln w="1651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17" name="Shape 315"/>
          <p:cNvSpPr/>
          <p:nvPr/>
        </p:nvSpPr>
        <p:spPr>
          <a:xfrm>
            <a:off x="10314432" y="10634472"/>
            <a:ext cx="1444752" cy="1124712"/>
          </a:xfrm>
          <a:prstGeom prst="roundRect">
            <a:avLst>
              <a:gd name="adj" fmla="val 4065"/>
            </a:avLst>
          </a:prstGeom>
          <a:solidFill>
            <a:srgbClr val="FFFFFF"/>
          </a:solidFill>
          <a:ln w="12700">
            <a:solidFill>
              <a:srgbClr val="CFCFCF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0378440" y="10725912"/>
            <a:ext cx="292608" cy="292608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19" name="Text 317"/>
          <p:cNvSpPr/>
          <p:nvPr/>
        </p:nvSpPr>
        <p:spPr>
          <a:xfrm>
            <a:off x="10378440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20" name="Shape 318"/>
          <p:cNvSpPr/>
          <p:nvPr/>
        </p:nvSpPr>
        <p:spPr>
          <a:xfrm>
            <a:off x="11411712" y="10725912"/>
            <a:ext cx="292608" cy="292608"/>
          </a:xfrm>
          <a:prstGeom prst="ellipse">
            <a:avLst/>
          </a:prstGeom>
          <a:solidFill>
            <a:srgbClr val="6B3FA0"/>
          </a:solidFill>
          <a:ln/>
        </p:spPr>
      </p:sp>
      <p:sp>
        <p:nvSpPr>
          <p:cNvPr id="321" name="Text 319"/>
          <p:cNvSpPr/>
          <p:nvPr/>
        </p:nvSpPr>
        <p:spPr>
          <a:xfrm>
            <a:off x="11411712" y="10725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200" dirty="0"/>
          </a:p>
        </p:txBody>
      </p:sp>
      <p:sp>
        <p:nvSpPr>
          <p:cNvPr id="322" name="Text 320"/>
          <p:cNvSpPr/>
          <p:nvPr/>
        </p:nvSpPr>
        <p:spPr>
          <a:xfrm>
            <a:off x="10360152" y="11091672"/>
            <a:ext cx="135331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76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returned and presented as insights / actions</a:t>
            </a:r>
            <a:endParaRPr lang="en-US" sz="760" dirty="0"/>
          </a:p>
        </p:txBody>
      </p:sp>
      <p:sp>
        <p:nvSpPr>
          <p:cNvPr id="323" name="Shape 321"/>
          <p:cNvSpPr/>
          <p:nvPr/>
        </p:nvSpPr>
        <p:spPr>
          <a:xfrm>
            <a:off x="12371832" y="10195560"/>
            <a:ext cx="5660136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1F3B73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12371832" y="10195560"/>
            <a:ext cx="5660136" cy="384048"/>
          </a:xfrm>
          <a:prstGeom prst="roundRect">
            <a:avLst>
              <a:gd name="adj" fmla="val 11905"/>
            </a:avLst>
          </a:prstGeom>
          <a:solidFill>
            <a:srgbClr val="16294F"/>
          </a:solidFill>
          <a:ln/>
        </p:spPr>
      </p:sp>
      <p:sp>
        <p:nvSpPr>
          <p:cNvPr id="325" name="Text 323"/>
          <p:cNvSpPr/>
          <p:nvPr/>
        </p:nvSpPr>
        <p:spPr>
          <a:xfrm>
            <a:off x="12463272" y="10195560"/>
            <a:ext cx="5477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BENEFITS</a:t>
            </a:r>
            <a:endParaRPr lang="en-US" sz="1250" dirty="0"/>
          </a:p>
        </p:txBody>
      </p:sp>
      <p:sp>
        <p:nvSpPr>
          <p:cNvPr id="326" name="Shape 324"/>
          <p:cNvSpPr/>
          <p:nvPr/>
        </p:nvSpPr>
        <p:spPr>
          <a:xfrm>
            <a:off x="12554712" y="10725912"/>
            <a:ext cx="256032" cy="256032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27" name="Text 325"/>
          <p:cNvSpPr/>
          <p:nvPr/>
        </p:nvSpPr>
        <p:spPr>
          <a:xfrm>
            <a:off x="12554712" y="10725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1100" dirty="0"/>
          </a:p>
        </p:txBody>
      </p:sp>
      <p:sp>
        <p:nvSpPr>
          <p:cNvPr id="328" name="Text 326"/>
          <p:cNvSpPr/>
          <p:nvPr/>
        </p:nvSpPr>
        <p:spPr>
          <a:xfrm>
            <a:off x="12883896" y="10707624"/>
            <a:ext cx="21442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source of business truth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15247620" y="10725912"/>
            <a:ext cx="256032" cy="256032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30" name="Text 328"/>
          <p:cNvSpPr/>
          <p:nvPr/>
        </p:nvSpPr>
        <p:spPr>
          <a:xfrm>
            <a:off x="15247620" y="107259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</a:t>
            </a:r>
            <a:endParaRPr lang="en-US" sz="1100" dirty="0"/>
          </a:p>
        </p:txBody>
      </p:sp>
      <p:sp>
        <p:nvSpPr>
          <p:cNvPr id="331" name="Text 329"/>
          <p:cNvSpPr/>
          <p:nvPr/>
        </p:nvSpPr>
        <p:spPr>
          <a:xfrm>
            <a:off x="15576804" y="10707624"/>
            <a:ext cx="21442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&amp; secure access</a:t>
            </a:r>
            <a:endParaRPr lang="en-US" sz="900" dirty="0"/>
          </a:p>
        </p:txBody>
      </p:sp>
      <p:sp>
        <p:nvSpPr>
          <p:cNvPr id="332" name="Shape 330"/>
          <p:cNvSpPr/>
          <p:nvPr/>
        </p:nvSpPr>
        <p:spPr>
          <a:xfrm>
            <a:off x="12554712" y="11109960"/>
            <a:ext cx="256032" cy="256032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33" name="Text 331"/>
          <p:cNvSpPr/>
          <p:nvPr/>
        </p:nvSpPr>
        <p:spPr>
          <a:xfrm>
            <a:off x="12554712" y="11109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334" name="Text 332"/>
          <p:cNvSpPr/>
          <p:nvPr/>
        </p:nvSpPr>
        <p:spPr>
          <a:xfrm>
            <a:off x="12883896" y="11091672"/>
            <a:ext cx="21442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metrics &amp; definitions</a:t>
            </a:r>
            <a:endParaRPr lang="en-US" sz="900" dirty="0"/>
          </a:p>
        </p:txBody>
      </p:sp>
      <p:sp>
        <p:nvSpPr>
          <p:cNvPr id="335" name="Shape 333"/>
          <p:cNvSpPr/>
          <p:nvPr/>
        </p:nvSpPr>
        <p:spPr>
          <a:xfrm>
            <a:off x="15247620" y="11109960"/>
            <a:ext cx="256032" cy="256032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36" name="Text 334"/>
          <p:cNvSpPr/>
          <p:nvPr/>
        </p:nvSpPr>
        <p:spPr>
          <a:xfrm>
            <a:off x="15247620" y="11109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1100" dirty="0"/>
          </a:p>
        </p:txBody>
      </p:sp>
      <p:sp>
        <p:nvSpPr>
          <p:cNvPr id="337" name="Text 335"/>
          <p:cNvSpPr/>
          <p:nvPr/>
        </p:nvSpPr>
        <p:spPr>
          <a:xfrm>
            <a:off x="15576804" y="11091672"/>
            <a:ext cx="21442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for BI, AI &amp; apps</a:t>
            </a:r>
            <a:endParaRPr lang="en-US" sz="900" dirty="0"/>
          </a:p>
        </p:txBody>
      </p:sp>
      <p:sp>
        <p:nvSpPr>
          <p:cNvPr id="338" name="Shape 336"/>
          <p:cNvSpPr/>
          <p:nvPr/>
        </p:nvSpPr>
        <p:spPr>
          <a:xfrm>
            <a:off x="12554712" y="11494008"/>
            <a:ext cx="256032" cy="256032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39" name="Text 337"/>
          <p:cNvSpPr/>
          <p:nvPr/>
        </p:nvSpPr>
        <p:spPr>
          <a:xfrm>
            <a:off x="12554712" y="11494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100" dirty="0"/>
          </a:p>
        </p:txBody>
      </p:sp>
      <p:sp>
        <p:nvSpPr>
          <p:cNvPr id="340" name="Text 338"/>
          <p:cNvSpPr/>
          <p:nvPr/>
        </p:nvSpPr>
        <p:spPr>
          <a:xfrm>
            <a:off x="12883896" y="11475720"/>
            <a:ext cx="21442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analytics &amp; development</a:t>
            </a:r>
            <a:endParaRPr lang="en-US" sz="900" dirty="0"/>
          </a:p>
        </p:txBody>
      </p:sp>
      <p:sp>
        <p:nvSpPr>
          <p:cNvPr id="341" name="Shape 339"/>
          <p:cNvSpPr/>
          <p:nvPr/>
        </p:nvSpPr>
        <p:spPr>
          <a:xfrm>
            <a:off x="15247620" y="11494008"/>
            <a:ext cx="256032" cy="256032"/>
          </a:xfrm>
          <a:prstGeom prst="ellipse">
            <a:avLst/>
          </a:prstGeom>
          <a:solidFill>
            <a:srgbClr val="1F3B73"/>
          </a:solidFill>
          <a:ln/>
        </p:spPr>
      </p:sp>
      <p:sp>
        <p:nvSpPr>
          <p:cNvPr id="342" name="Text 340"/>
          <p:cNvSpPr/>
          <p:nvPr/>
        </p:nvSpPr>
        <p:spPr>
          <a:xfrm>
            <a:off x="15247620" y="11494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100" dirty="0"/>
          </a:p>
        </p:txBody>
      </p:sp>
      <p:sp>
        <p:nvSpPr>
          <p:cNvPr id="343" name="Text 341"/>
          <p:cNvSpPr/>
          <p:nvPr/>
        </p:nvSpPr>
        <p:spPr>
          <a:xfrm>
            <a:off x="15576804" y="11475720"/>
            <a:ext cx="21442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decisions &amp; outcomes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2026-07-16T07:36:50Z</dcterms:created>
  <dcterms:modified xsi:type="dcterms:W3CDTF">2026-07-16T07:36:50Z</dcterms:modified>
</cp:coreProperties>
</file>