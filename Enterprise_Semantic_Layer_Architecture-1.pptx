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7.png"/><Relationship Id="rId20" Type="http://schemas.openxmlformats.org/officeDocument/2006/relationships/image" Target="../media/image-1-11.png"/><Relationship Id="rId21" Type="http://schemas.openxmlformats.org/officeDocument/2006/relationships/image" Target="../media/image-1-12.png"/><Relationship Id="rId22" Type="http://schemas.openxmlformats.org/officeDocument/2006/relationships/image" Target="../media/image-1-14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4.png"/><Relationship Id="rId26" Type="http://schemas.openxmlformats.org/officeDocument/2006/relationships/image" Target="../media/image-1-24.png"/><Relationship Id="rId27" Type="http://schemas.openxmlformats.org/officeDocument/2006/relationships/image" Target="../media/image-1-24.png"/><Relationship Id="rId28" Type="http://schemas.openxmlformats.org/officeDocument/2006/relationships/image" Target="../media/image-1-24.png"/><Relationship Id="rId29" Type="http://schemas.openxmlformats.org/officeDocument/2006/relationships/image" Target="../media/image-1-24.png"/><Relationship Id="rId30" Type="http://schemas.openxmlformats.org/officeDocument/2006/relationships/image" Target="../media/image-1-24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7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6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slideLayout" Target="../slideLayouts/slideLayout1.xml"/><Relationship Id="rId6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Semantic Layer Architecture for AI-Powered CRM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0" y="365760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6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Question to Trusted Insights &amp; 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603504"/>
            <a:ext cx="1554480" cy="16824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76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USERS &amp; CONSUMERS</a:t>
            </a:r>
            <a:endParaRPr lang="en-US" sz="830" dirty="0"/>
          </a:p>
        </p:txBody>
      </p:sp>
      <p:pic>
        <p:nvPicPr>
          <p:cNvPr id="6" name="Image 0" descr="/home/claude/crm-deck/icons/users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9875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Marketing Managers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777240" y="12801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Analysts</a:t>
            </a:r>
            <a:endParaRPr lang="en-US" sz="630" dirty="0"/>
          </a:p>
        </p:txBody>
      </p:sp>
      <p:sp>
        <p:nvSpPr>
          <p:cNvPr id="9" name="Text 6"/>
          <p:cNvSpPr/>
          <p:nvPr/>
        </p:nvSpPr>
        <p:spPr>
          <a:xfrm>
            <a:off x="777240" y="14630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CRM Applications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777240" y="17556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 / Dashboards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777240" y="19385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Agents / LLMs</a:t>
            </a:r>
            <a:endParaRPr lang="en-US" sz="630" dirty="0"/>
          </a:p>
        </p:txBody>
      </p:sp>
      <p:sp>
        <p:nvSpPr>
          <p:cNvPr id="12" name="Shape 9"/>
          <p:cNvSpPr/>
          <p:nvPr/>
        </p:nvSpPr>
        <p:spPr>
          <a:xfrm>
            <a:off x="2331720" y="603504"/>
            <a:ext cx="1554480" cy="16824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676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/ AI ASSISTANT</a:t>
            </a:r>
            <a:endParaRPr lang="en-US" sz="830" dirty="0"/>
          </a:p>
        </p:txBody>
      </p:sp>
      <p:pic>
        <p:nvPicPr>
          <p:cNvPr id="14" name="Image 1" descr="/home/claude/crm-deck/icons/brain-navy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9509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62072" y="95097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Understands intent</a:t>
            </a:r>
            <a:endParaRPr lang="en-US" sz="640" dirty="0"/>
          </a:p>
        </p:txBody>
      </p:sp>
      <p:sp>
        <p:nvSpPr>
          <p:cNvPr id="16" name="Text 12"/>
          <p:cNvSpPr/>
          <p:nvPr/>
        </p:nvSpPr>
        <p:spPr>
          <a:xfrm>
            <a:off x="2862072" y="117043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Extracts entities, metrics, filters, time, segmentation</a:t>
            </a:r>
            <a:endParaRPr lang="en-US" sz="640" dirty="0"/>
          </a:p>
        </p:txBody>
      </p:sp>
      <p:sp>
        <p:nvSpPr>
          <p:cNvPr id="17" name="Text 13"/>
          <p:cNvSpPr/>
          <p:nvPr/>
        </p:nvSpPr>
        <p:spPr>
          <a:xfrm>
            <a:off x="2862072" y="155448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Asks Semantic Engine for meaning &amp; logic</a:t>
            </a:r>
            <a:endParaRPr lang="en-US" sz="640" dirty="0"/>
          </a:p>
        </p:txBody>
      </p:sp>
      <p:sp>
        <p:nvSpPr>
          <p:cNvPr id="18" name="Text 14"/>
          <p:cNvSpPr/>
          <p:nvPr/>
        </p:nvSpPr>
        <p:spPr>
          <a:xfrm>
            <a:off x="1737360" y="7680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660" dirty="0"/>
          </a:p>
        </p:txBody>
      </p:sp>
      <p:sp>
        <p:nvSpPr>
          <p:cNvPr id="19" name="Shape 15"/>
          <p:cNvSpPr/>
          <p:nvPr/>
        </p:nvSpPr>
        <p:spPr>
          <a:xfrm>
            <a:off x="1764792" y="1024128"/>
            <a:ext cx="402336" cy="91440"/>
          </a:xfrm>
          <a:prstGeom prst="rightArrow">
            <a:avLst/>
          </a:prstGeom>
          <a:solidFill>
            <a:srgbClr val="1B2A5B"/>
          </a:solidFill>
          <a:ln/>
        </p:spPr>
      </p:sp>
      <p:sp>
        <p:nvSpPr>
          <p:cNvPr id="20" name="Text 16"/>
          <p:cNvSpPr/>
          <p:nvPr/>
        </p:nvSpPr>
        <p:spPr>
          <a:xfrm>
            <a:off x="1691640" y="117043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premium customers in Korea likely to upgrade to Galaxy Fold"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4526280" y="603504"/>
            <a:ext cx="4206240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26280" y="603504"/>
            <a:ext cx="4206240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23" name="Text 19"/>
          <p:cNvSpPr/>
          <p:nvPr/>
        </p:nvSpPr>
        <p:spPr>
          <a:xfrm>
            <a:off x="4599432" y="60350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SEMANTIC ENGINE (Semantic Resolution &amp; Orchestration)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26864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25" name="Image 2" descr="/home/claude/crm-deck/icons/commen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96012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17720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630" dirty="0"/>
          </a:p>
        </p:txBody>
      </p:sp>
      <p:sp>
        <p:nvSpPr>
          <p:cNvPr id="27" name="Shape 22"/>
          <p:cNvSpPr/>
          <p:nvPr/>
        </p:nvSpPr>
        <p:spPr>
          <a:xfrm>
            <a:off x="5303520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28" name="Image 3" descr="/home/claude/crm-deck/icon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6012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94376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630" dirty="0"/>
          </a:p>
        </p:txBody>
      </p:sp>
      <p:sp>
        <p:nvSpPr>
          <p:cNvPr id="30" name="Shape 24"/>
          <p:cNvSpPr/>
          <p:nvPr/>
        </p:nvSpPr>
        <p:spPr>
          <a:xfrm>
            <a:off x="5980176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31" name="Image 4" descr="/home/claude/crm-deck/icons/lin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96012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71032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630" dirty="0"/>
          </a:p>
        </p:txBody>
      </p:sp>
      <p:sp>
        <p:nvSpPr>
          <p:cNvPr id="33" name="Shape 26"/>
          <p:cNvSpPr/>
          <p:nvPr/>
        </p:nvSpPr>
        <p:spPr>
          <a:xfrm>
            <a:off x="6656832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34" name="Image 5" descr="/home/claude/crm-deck/icons/shieldcheck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960120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47688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630" dirty="0"/>
          </a:p>
        </p:txBody>
      </p:sp>
      <p:sp>
        <p:nvSpPr>
          <p:cNvPr id="36" name="Shape 28"/>
          <p:cNvSpPr/>
          <p:nvPr/>
        </p:nvSpPr>
        <p:spPr>
          <a:xfrm>
            <a:off x="7333488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37" name="Image 6" descr="/home/claude/crm-deck/icons/sitemap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960120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24344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630" dirty="0"/>
          </a:p>
        </p:txBody>
      </p:sp>
      <p:sp>
        <p:nvSpPr>
          <p:cNvPr id="39" name="Shape 30"/>
          <p:cNvSpPr/>
          <p:nvPr/>
        </p:nvSpPr>
        <p:spPr>
          <a:xfrm>
            <a:off x="8010144" y="877824"/>
            <a:ext cx="603504" cy="786384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40" name="Image 7" descr="/home/claude/crm-deck/icons/code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960120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001000" y="1298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630" dirty="0"/>
          </a:p>
        </p:txBody>
      </p:sp>
      <p:sp>
        <p:nvSpPr>
          <p:cNvPr id="42" name="Text 32"/>
          <p:cNvSpPr/>
          <p:nvPr/>
        </p:nvSpPr>
        <p:spPr>
          <a:xfrm>
            <a:off x="46177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business meaning using the Semantic Model, applies rules, determines joins, and produces a logical query plan and SQL.</a:t>
            </a:r>
            <a:endParaRPr lang="en-US" sz="670" dirty="0"/>
          </a:p>
        </p:txBody>
      </p:sp>
      <p:sp>
        <p:nvSpPr>
          <p:cNvPr id="43" name="Text 33"/>
          <p:cNvSpPr/>
          <p:nvPr/>
        </p:nvSpPr>
        <p:spPr>
          <a:xfrm>
            <a:off x="3931920" y="7315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Request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(Concepts)</a:t>
            </a:r>
            <a:endParaRPr lang="en-US" sz="660" dirty="0"/>
          </a:p>
        </p:txBody>
      </p:sp>
      <p:sp>
        <p:nvSpPr>
          <p:cNvPr id="44" name="Shape 34"/>
          <p:cNvSpPr/>
          <p:nvPr/>
        </p:nvSpPr>
        <p:spPr>
          <a:xfrm>
            <a:off x="3959352" y="1060704"/>
            <a:ext cx="402336" cy="91440"/>
          </a:xfrm>
          <a:prstGeom prst="rightArrow">
            <a:avLst/>
          </a:prstGeom>
          <a:solidFill>
            <a:srgbClr val="1B2A5B"/>
          </a:solidFill>
          <a:ln/>
        </p:spPr>
      </p:sp>
      <p:sp>
        <p:nvSpPr>
          <p:cNvPr id="45" name="Text 35"/>
          <p:cNvSpPr/>
          <p:nvPr/>
        </p:nvSpPr>
        <p:spPr>
          <a:xfrm>
            <a:off x="3886200" y="12070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Customer,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Country=KR,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Propensity</a:t>
            </a:r>
            <a:endParaRPr lang="en-US" sz="600" dirty="0"/>
          </a:p>
        </p:txBody>
      </p:sp>
      <p:sp>
        <p:nvSpPr>
          <p:cNvPr id="46" name="Shape 36"/>
          <p:cNvSpPr/>
          <p:nvPr/>
        </p:nvSpPr>
        <p:spPr>
          <a:xfrm>
            <a:off x="4160520" y="1609344"/>
            <a:ext cx="0" cy="475488"/>
          </a:xfrm>
          <a:prstGeom prst="line">
            <a:avLst/>
          </a:prstGeom>
          <a:noFill/>
          <a:ln w="15875">
            <a:solidFill>
              <a:srgbClr val="1B2A5B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4105656" y="1581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48" name="Text 38"/>
          <p:cNvSpPr/>
          <p:nvPr/>
        </p:nvSpPr>
        <p:spPr>
          <a:xfrm>
            <a:off x="4105656" y="204825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9" name="Shape 39"/>
          <p:cNvSpPr/>
          <p:nvPr/>
        </p:nvSpPr>
        <p:spPr>
          <a:xfrm>
            <a:off x="1691640" y="2176272"/>
            <a:ext cx="640080" cy="0"/>
          </a:xfrm>
          <a:prstGeom prst="line">
            <a:avLst/>
          </a:prstGeom>
          <a:noFill/>
          <a:ln w="15875">
            <a:solidFill>
              <a:srgbClr val="1B2A5B"/>
            </a:solidFill>
            <a:prstDash val="dash"/>
          </a:ln>
        </p:spPr>
      </p:sp>
      <p:sp>
        <p:nvSpPr>
          <p:cNvPr id="50" name="Text 40"/>
          <p:cNvSpPr/>
          <p:nvPr/>
        </p:nvSpPr>
        <p:spPr>
          <a:xfrm>
            <a:off x="1673352" y="211226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</a:t>
            </a:r>
            <a:endParaRPr lang="en-US" sz="700" dirty="0"/>
          </a:p>
        </p:txBody>
      </p:sp>
      <p:sp>
        <p:nvSpPr>
          <p:cNvPr id="51" name="Text 41"/>
          <p:cNvSpPr/>
          <p:nvPr/>
        </p:nvSpPr>
        <p:spPr>
          <a:xfrm>
            <a:off x="15544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Results</a:t>
            </a:r>
            <a:endParaRPr lang="en-US" sz="600" dirty="0"/>
          </a:p>
        </p:txBody>
      </p:sp>
      <p:sp>
        <p:nvSpPr>
          <p:cNvPr id="52" name="Shape 42"/>
          <p:cNvSpPr/>
          <p:nvPr/>
        </p:nvSpPr>
        <p:spPr>
          <a:xfrm>
            <a:off x="9235440" y="603504"/>
            <a:ext cx="2816352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9326880" y="6766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WAREHOUSE</a:t>
            </a:r>
            <a:endParaRPr lang="en-US" sz="900" dirty="0"/>
          </a:p>
        </p:txBody>
      </p:sp>
      <p:pic>
        <p:nvPicPr>
          <p:cNvPr id="54" name="Image 8" descr="/home/claude/crm-deck/icons/database-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950976"/>
            <a:ext cx="292608" cy="29260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9729216" y="9875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9400032" y="133502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Optimized Execution</a:t>
            </a:r>
            <a:endParaRPr lang="en-US" sz="700" dirty="0"/>
          </a:p>
        </p:txBody>
      </p:sp>
      <p:sp>
        <p:nvSpPr>
          <p:cNvPr id="57" name="Text 46"/>
          <p:cNvSpPr/>
          <p:nvPr/>
        </p:nvSpPr>
        <p:spPr>
          <a:xfrm>
            <a:off x="9400032" y="155448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Scalable Storage</a:t>
            </a:r>
            <a:endParaRPr lang="en-US" sz="700" dirty="0"/>
          </a:p>
        </p:txBody>
      </p:sp>
      <p:sp>
        <p:nvSpPr>
          <p:cNvPr id="58" name="Text 47"/>
          <p:cNvSpPr/>
          <p:nvPr/>
        </p:nvSpPr>
        <p:spPr>
          <a:xfrm>
            <a:off x="9400032" y="177393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&amp; Governance</a:t>
            </a:r>
            <a:endParaRPr lang="en-US" sz="700" dirty="0"/>
          </a:p>
        </p:txBody>
      </p:sp>
      <p:sp>
        <p:nvSpPr>
          <p:cNvPr id="59" name="Text 48"/>
          <p:cNvSpPr/>
          <p:nvPr/>
        </p:nvSpPr>
        <p:spPr>
          <a:xfrm>
            <a:off x="8759952" y="731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640" dirty="0"/>
          </a:p>
        </p:txBody>
      </p:sp>
      <p:sp>
        <p:nvSpPr>
          <p:cNvPr id="60" name="Shape 49"/>
          <p:cNvSpPr/>
          <p:nvPr/>
        </p:nvSpPr>
        <p:spPr>
          <a:xfrm>
            <a:off x="8750808" y="896112"/>
            <a:ext cx="475488" cy="82296"/>
          </a:xfrm>
          <a:prstGeom prst="rightArrow">
            <a:avLst/>
          </a:prstGeom>
          <a:solidFill>
            <a:srgbClr val="1B2A5B"/>
          </a:solidFill>
          <a:ln/>
        </p:spPr>
      </p:sp>
      <p:sp>
        <p:nvSpPr>
          <p:cNvPr id="61" name="Shape 50"/>
          <p:cNvSpPr/>
          <p:nvPr/>
        </p:nvSpPr>
        <p:spPr>
          <a:xfrm>
            <a:off x="8759952" y="1499616"/>
            <a:ext cx="475488" cy="82296"/>
          </a:xfrm>
          <a:prstGeom prst="leftArrow">
            <a:avLst/>
          </a:prstGeom>
          <a:solidFill>
            <a:srgbClr val="1B2A5B"/>
          </a:solidFill>
          <a:ln/>
        </p:spPr>
      </p:sp>
      <p:sp>
        <p:nvSpPr>
          <p:cNvPr id="62" name="Text 51"/>
          <p:cNvSpPr/>
          <p:nvPr/>
        </p:nvSpPr>
        <p:spPr>
          <a:xfrm>
            <a:off x="8805672" y="160934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640" dirty="0"/>
          </a:p>
        </p:txBody>
      </p:sp>
      <p:sp>
        <p:nvSpPr>
          <p:cNvPr id="63" name="Shape 52"/>
          <p:cNvSpPr/>
          <p:nvPr/>
        </p:nvSpPr>
        <p:spPr>
          <a:xfrm>
            <a:off x="137160" y="2359152"/>
            <a:ext cx="8595360" cy="253288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137160" y="2359152"/>
            <a:ext cx="8595360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65" name="Text 54"/>
          <p:cNvSpPr/>
          <p:nvPr/>
        </p:nvSpPr>
        <p:spPr>
          <a:xfrm>
            <a:off x="210312" y="2359152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SEMANTIC LAYER (Business Meaning &amp; Logic)</a:t>
            </a:r>
            <a:endParaRPr lang="en-US" sz="1000" dirty="0"/>
          </a:p>
        </p:txBody>
      </p:sp>
      <p:pic>
        <p:nvPicPr>
          <p:cNvPr id="66" name="Image 9" descr="/home/claude/crm-deck/icons/users-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2651760"/>
            <a:ext cx="146304" cy="146304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448056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650" dirty="0"/>
          </a:p>
        </p:txBody>
      </p:sp>
      <p:pic>
        <p:nvPicPr>
          <p:cNvPr id="68" name="Image 10" descr="/home/claude/crm-deck/icons/user-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2944368"/>
            <a:ext cx="109728" cy="109728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429768" y="29397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60" dirty="0"/>
          </a:p>
        </p:txBody>
      </p:sp>
      <p:pic>
        <p:nvPicPr>
          <p:cNvPr id="70" name="Image 11" descr="/home/claude/crm-deck/icons/box-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3168396"/>
            <a:ext cx="109728" cy="109728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429768" y="31638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660" dirty="0"/>
          </a:p>
        </p:txBody>
      </p:sp>
      <p:pic>
        <p:nvPicPr>
          <p:cNvPr id="72" name="Image 12" descr="/home/claude/crm-deck/icons/bullseye-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3392424"/>
            <a:ext cx="109728" cy="109728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429768" y="33878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660" dirty="0"/>
          </a:p>
        </p:txBody>
      </p:sp>
      <p:pic>
        <p:nvPicPr>
          <p:cNvPr id="74" name="Image 13" descr="/home/claude/crm-deck/icons/list-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176" y="3616452"/>
            <a:ext cx="109728" cy="109728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429768" y="361188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660" dirty="0"/>
          </a:p>
        </p:txBody>
      </p:sp>
      <p:pic>
        <p:nvPicPr>
          <p:cNvPr id="76" name="Image 14" descr="/home/claude/crm-deck/icons/mobile-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5176" y="3840480"/>
            <a:ext cx="109728" cy="109728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429768" y="383590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660" dirty="0"/>
          </a:p>
        </p:txBody>
      </p:sp>
      <p:pic>
        <p:nvPicPr>
          <p:cNvPr id="78" name="Image 15" descr="/home/claude/crm-deck/icons/star-nav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176" y="4064508"/>
            <a:ext cx="109728" cy="109728"/>
          </a:xfrm>
          <a:prstGeom prst="rect">
            <a:avLst/>
          </a:prstGeom>
        </p:spPr>
      </p:pic>
      <p:sp>
        <p:nvSpPr>
          <p:cNvPr id="79" name="Text 61"/>
          <p:cNvSpPr/>
          <p:nvPr/>
        </p:nvSpPr>
        <p:spPr>
          <a:xfrm>
            <a:off x="429768" y="40599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660" dirty="0"/>
          </a:p>
        </p:txBody>
      </p:sp>
      <p:sp>
        <p:nvSpPr>
          <p:cNvPr id="80" name="Shape 62"/>
          <p:cNvSpPr/>
          <p:nvPr/>
        </p:nvSpPr>
        <p:spPr>
          <a:xfrm>
            <a:off x="1618488" y="2633472"/>
            <a:ext cx="0" cy="2185416"/>
          </a:xfrm>
          <a:prstGeom prst="line">
            <a:avLst/>
          </a:prstGeom>
          <a:noFill/>
          <a:ln w="15875">
            <a:solidFill>
              <a:srgbClr val="D8DEEA"/>
            </a:solidFill>
            <a:prstDash val="solid"/>
          </a:ln>
        </p:spPr>
      </p:sp>
      <p:pic>
        <p:nvPicPr>
          <p:cNvPr id="81" name="Image 16" descr="/home/claude/crm-deck/icons/chartline-navy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3352" y="2651760"/>
            <a:ext cx="146304" cy="146304"/>
          </a:xfrm>
          <a:prstGeom prst="rect">
            <a:avLst/>
          </a:prstGeom>
        </p:spPr>
      </p:pic>
      <p:sp>
        <p:nvSpPr>
          <p:cNvPr id="82" name="Text 63"/>
          <p:cNvSpPr/>
          <p:nvPr/>
        </p:nvSpPr>
        <p:spPr>
          <a:xfrm>
            <a:off x="1856232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50" dirty="0"/>
          </a:p>
        </p:txBody>
      </p:sp>
      <p:sp>
        <p:nvSpPr>
          <p:cNvPr id="83" name="Text 64"/>
          <p:cNvSpPr/>
          <p:nvPr/>
        </p:nvSpPr>
        <p:spPr>
          <a:xfrm>
            <a:off x="1655064" y="29443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Lifetime Value (CLV)</a:t>
            </a:r>
            <a:endParaRPr lang="en-US" sz="610" dirty="0"/>
          </a:p>
        </p:txBody>
      </p:sp>
      <p:sp>
        <p:nvSpPr>
          <p:cNvPr id="84" name="Text 65"/>
          <p:cNvSpPr/>
          <p:nvPr/>
        </p:nvSpPr>
        <p:spPr>
          <a:xfrm>
            <a:off x="1655064" y="31455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Upgrade Propensity</a:t>
            </a:r>
            <a:endParaRPr lang="en-US" sz="610" dirty="0"/>
          </a:p>
        </p:txBody>
      </p:sp>
      <p:sp>
        <p:nvSpPr>
          <p:cNvPr id="85" name="Text 66"/>
          <p:cNvSpPr/>
          <p:nvPr/>
        </p:nvSpPr>
        <p:spPr>
          <a:xfrm>
            <a:off x="1655064" y="32781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Recommendation Score</a:t>
            </a:r>
            <a:endParaRPr lang="en-US" sz="610" dirty="0"/>
          </a:p>
        </p:txBody>
      </p:sp>
      <p:sp>
        <p:nvSpPr>
          <p:cNvPr id="86" name="Text 67"/>
          <p:cNvSpPr/>
          <p:nvPr/>
        </p:nvSpPr>
        <p:spPr>
          <a:xfrm>
            <a:off x="1655064" y="341071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CTR</a:t>
            </a:r>
            <a:endParaRPr lang="en-US" sz="610" dirty="0"/>
          </a:p>
        </p:txBody>
      </p:sp>
      <p:sp>
        <p:nvSpPr>
          <p:cNvPr id="87" name="Text 68"/>
          <p:cNvSpPr/>
          <p:nvPr/>
        </p:nvSpPr>
        <p:spPr>
          <a:xfrm>
            <a:off x="1655064" y="35433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Campaign Conversion Rate</a:t>
            </a:r>
            <a:endParaRPr lang="en-US" sz="610" dirty="0"/>
          </a:p>
        </p:txBody>
      </p:sp>
      <p:sp>
        <p:nvSpPr>
          <p:cNvPr id="88" name="Text 69"/>
          <p:cNvSpPr/>
          <p:nvPr/>
        </p:nvSpPr>
        <p:spPr>
          <a:xfrm>
            <a:off x="1655064" y="37444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</a:t>
            </a:r>
            <a:endParaRPr lang="en-US" sz="610" dirty="0"/>
          </a:p>
        </p:txBody>
      </p:sp>
      <p:sp>
        <p:nvSpPr>
          <p:cNvPr id="89" name="Text 70"/>
          <p:cNvSpPr/>
          <p:nvPr/>
        </p:nvSpPr>
        <p:spPr>
          <a:xfrm>
            <a:off x="1655064" y="387705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Order Value</a:t>
            </a:r>
            <a:endParaRPr lang="en-US" sz="610" dirty="0"/>
          </a:p>
        </p:txBody>
      </p:sp>
      <p:sp>
        <p:nvSpPr>
          <p:cNvPr id="90" name="Shape 71"/>
          <p:cNvSpPr/>
          <p:nvPr/>
        </p:nvSpPr>
        <p:spPr>
          <a:xfrm>
            <a:off x="3026664" y="2633472"/>
            <a:ext cx="0" cy="2185416"/>
          </a:xfrm>
          <a:prstGeom prst="line">
            <a:avLst/>
          </a:prstGeom>
          <a:noFill/>
          <a:ln w="15875">
            <a:solidFill>
              <a:srgbClr val="D8DEEA"/>
            </a:solidFill>
            <a:prstDash val="solid"/>
          </a:ln>
        </p:spPr>
      </p:sp>
      <p:pic>
        <p:nvPicPr>
          <p:cNvPr id="91" name="Image 17" descr="/home/claude/crm-deck/icons/warning-orang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81528" y="2651760"/>
            <a:ext cx="146304" cy="146304"/>
          </a:xfrm>
          <a:prstGeom prst="rect">
            <a:avLst/>
          </a:prstGeom>
        </p:spPr>
      </p:pic>
      <p:sp>
        <p:nvSpPr>
          <p:cNvPr id="92" name="Text 72"/>
          <p:cNvSpPr/>
          <p:nvPr/>
        </p:nvSpPr>
        <p:spPr>
          <a:xfrm>
            <a:off x="3264408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650" dirty="0"/>
          </a:p>
        </p:txBody>
      </p:sp>
      <p:sp>
        <p:nvSpPr>
          <p:cNvPr id="93" name="Text 73"/>
          <p:cNvSpPr/>
          <p:nvPr/>
        </p:nvSpPr>
        <p:spPr>
          <a:xfrm>
            <a:off x="3063240" y="29443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Premium Customer (CLV &gt; $1000)</a:t>
            </a:r>
            <a:endParaRPr lang="en-US" sz="600" dirty="0"/>
          </a:p>
        </p:txBody>
      </p:sp>
      <p:sp>
        <p:nvSpPr>
          <p:cNvPr id="94" name="Text 74"/>
          <p:cNvSpPr/>
          <p:nvPr/>
        </p:nvSpPr>
        <p:spPr>
          <a:xfrm>
            <a:off x="3063240" y="3236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Intent (Rec Score &gt; 0.85)</a:t>
            </a:r>
            <a:endParaRPr lang="en-US" sz="600" dirty="0"/>
          </a:p>
        </p:txBody>
      </p:sp>
      <p:sp>
        <p:nvSpPr>
          <p:cNvPr id="95" name="Text 75"/>
          <p:cNvSpPr/>
          <p:nvPr/>
        </p:nvSpPr>
        <p:spPr>
          <a:xfrm>
            <a:off x="3063240" y="352958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Campaign Eligible (No contact in last 30 days)</a:t>
            </a:r>
            <a:endParaRPr lang="en-US" sz="600" dirty="0"/>
          </a:p>
        </p:txBody>
      </p:sp>
      <p:sp>
        <p:nvSpPr>
          <p:cNvPr id="96" name="Text 76"/>
          <p:cNvSpPr/>
          <p:nvPr/>
        </p:nvSpPr>
        <p:spPr>
          <a:xfrm>
            <a:off x="3063240" y="382219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Upgrade Candidate (Owns S22 &amp; Propensity &gt; 0.75)</a:t>
            </a:r>
            <a:endParaRPr lang="en-US" sz="600" dirty="0"/>
          </a:p>
        </p:txBody>
      </p:sp>
      <p:sp>
        <p:nvSpPr>
          <p:cNvPr id="97" name="Text 77"/>
          <p:cNvSpPr/>
          <p:nvPr/>
        </p:nvSpPr>
        <p:spPr>
          <a:xfrm>
            <a:off x="3063240" y="411480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 / Age / Device Rules</a:t>
            </a:r>
            <a:endParaRPr lang="en-US" sz="600" dirty="0"/>
          </a:p>
        </p:txBody>
      </p:sp>
      <p:sp>
        <p:nvSpPr>
          <p:cNvPr id="98" name="Shape 78"/>
          <p:cNvSpPr/>
          <p:nvPr/>
        </p:nvSpPr>
        <p:spPr>
          <a:xfrm>
            <a:off x="4434840" y="2633472"/>
            <a:ext cx="0" cy="2185416"/>
          </a:xfrm>
          <a:prstGeom prst="line">
            <a:avLst/>
          </a:prstGeom>
          <a:noFill/>
          <a:ln w="15875">
            <a:solidFill>
              <a:srgbClr val="D8DEEA"/>
            </a:solidFill>
            <a:prstDash val="solid"/>
          </a:ln>
        </p:spPr>
      </p:sp>
      <p:pic>
        <p:nvPicPr>
          <p:cNvPr id="99" name="Image 18" descr="/home/claude/crm-deck/icons/sitemap-nav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89704" y="2651760"/>
            <a:ext cx="146304" cy="146304"/>
          </a:xfrm>
          <a:prstGeom prst="rect">
            <a:avLst/>
          </a:prstGeom>
        </p:spPr>
      </p:pic>
      <p:sp>
        <p:nvSpPr>
          <p:cNvPr id="100" name="Text 79"/>
          <p:cNvSpPr/>
          <p:nvPr/>
        </p:nvSpPr>
        <p:spPr>
          <a:xfrm>
            <a:off x="4672584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650" dirty="0"/>
          </a:p>
        </p:txBody>
      </p:sp>
      <p:sp>
        <p:nvSpPr>
          <p:cNvPr id="101" name="Shape 80"/>
          <p:cNvSpPr/>
          <p:nvPr/>
        </p:nvSpPr>
        <p:spPr>
          <a:xfrm>
            <a:off x="4754880" y="2962656"/>
            <a:ext cx="768096" cy="146304"/>
          </a:xfrm>
          <a:prstGeom prst="roundRect">
            <a:avLst>
              <a:gd name="adj" fmla="val 18750"/>
            </a:avLst>
          </a:prstGeom>
          <a:solidFill>
            <a:srgbClr val="EAF1FB"/>
          </a:solidFill>
          <a:ln w="9525">
            <a:solidFill>
              <a:srgbClr val="1B2A5B"/>
            </a:solidFill>
            <a:prstDash val="solid"/>
          </a:ln>
        </p:spPr>
      </p:sp>
      <p:pic>
        <p:nvPicPr>
          <p:cNvPr id="102" name="Image 19" descr="/home/claude/crm-deck/icons/user-nav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91456" y="2980944"/>
            <a:ext cx="109728" cy="109728"/>
          </a:xfrm>
          <a:prstGeom prst="rect">
            <a:avLst/>
          </a:prstGeom>
        </p:spPr>
      </p:pic>
      <p:sp>
        <p:nvSpPr>
          <p:cNvPr id="103" name="Text 81"/>
          <p:cNvSpPr/>
          <p:nvPr/>
        </p:nvSpPr>
        <p:spPr>
          <a:xfrm>
            <a:off x="4937760" y="297637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560" dirty="0"/>
          </a:p>
        </p:txBody>
      </p:sp>
      <p:sp>
        <p:nvSpPr>
          <p:cNvPr id="104" name="Shape 82"/>
          <p:cNvSpPr/>
          <p:nvPr/>
        </p:nvSpPr>
        <p:spPr>
          <a:xfrm>
            <a:off x="4453128" y="3273552"/>
            <a:ext cx="59143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FB3D9"/>
            </a:solidFill>
            <a:prstDash val="solid"/>
          </a:ln>
        </p:spPr>
      </p:sp>
      <p:sp>
        <p:nvSpPr>
          <p:cNvPr id="105" name="Text 83"/>
          <p:cNvSpPr/>
          <p:nvPr/>
        </p:nvSpPr>
        <p:spPr>
          <a:xfrm>
            <a:off x="4489704" y="3287268"/>
            <a:ext cx="56327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540" dirty="0"/>
          </a:p>
        </p:txBody>
      </p:sp>
      <p:sp>
        <p:nvSpPr>
          <p:cNvPr id="106" name="Shape 84"/>
          <p:cNvSpPr/>
          <p:nvPr/>
        </p:nvSpPr>
        <p:spPr>
          <a:xfrm>
            <a:off x="5233294" y="3273552"/>
            <a:ext cx="59143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FB3D9"/>
            </a:solidFill>
            <a:prstDash val="solid"/>
          </a:ln>
        </p:spPr>
      </p:sp>
      <p:sp>
        <p:nvSpPr>
          <p:cNvPr id="107" name="Text 85"/>
          <p:cNvSpPr/>
          <p:nvPr/>
        </p:nvSpPr>
        <p:spPr>
          <a:xfrm>
            <a:off x="5233294" y="3287268"/>
            <a:ext cx="59143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540" dirty="0"/>
          </a:p>
        </p:txBody>
      </p:sp>
      <p:sp>
        <p:nvSpPr>
          <p:cNvPr id="108" name="Shape 86"/>
          <p:cNvSpPr/>
          <p:nvPr/>
        </p:nvSpPr>
        <p:spPr>
          <a:xfrm>
            <a:off x="4453128" y="3584448"/>
            <a:ext cx="59143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109" name="Image 20" descr="/home/claude/crm-deck/icons/box-nav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80560" y="3598164"/>
            <a:ext cx="100584" cy="100584"/>
          </a:xfrm>
          <a:prstGeom prst="rect">
            <a:avLst/>
          </a:prstGeom>
        </p:spPr>
      </p:pic>
      <p:sp>
        <p:nvSpPr>
          <p:cNvPr id="110" name="Text 87"/>
          <p:cNvSpPr/>
          <p:nvPr/>
        </p:nvSpPr>
        <p:spPr>
          <a:xfrm>
            <a:off x="4590288" y="3602736"/>
            <a:ext cx="49286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540" dirty="0"/>
          </a:p>
        </p:txBody>
      </p:sp>
      <p:sp>
        <p:nvSpPr>
          <p:cNvPr id="111" name="Shape 88"/>
          <p:cNvSpPr/>
          <p:nvPr/>
        </p:nvSpPr>
        <p:spPr>
          <a:xfrm>
            <a:off x="5233294" y="3584448"/>
            <a:ext cx="59143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FB3D9"/>
            </a:solidFill>
            <a:prstDash val="solid"/>
          </a:ln>
        </p:spPr>
      </p:sp>
      <p:sp>
        <p:nvSpPr>
          <p:cNvPr id="112" name="Text 89"/>
          <p:cNvSpPr/>
          <p:nvPr/>
        </p:nvSpPr>
        <p:spPr>
          <a:xfrm>
            <a:off x="5260726" y="3602736"/>
            <a:ext cx="49286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540" dirty="0"/>
          </a:p>
        </p:txBody>
      </p:sp>
      <p:sp>
        <p:nvSpPr>
          <p:cNvPr id="113" name="Shape 90"/>
          <p:cNvSpPr/>
          <p:nvPr/>
        </p:nvSpPr>
        <p:spPr>
          <a:xfrm>
            <a:off x="4748845" y="3108960"/>
            <a:ext cx="390083" cy="164592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</a:ln>
        </p:spPr>
      </p:sp>
      <p:sp>
        <p:nvSpPr>
          <p:cNvPr id="114" name="Shape 91"/>
          <p:cNvSpPr/>
          <p:nvPr/>
        </p:nvSpPr>
        <p:spPr>
          <a:xfrm>
            <a:off x="5138928" y="3108960"/>
            <a:ext cx="390083" cy="164592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</a:ln>
        </p:spPr>
      </p:sp>
      <p:sp>
        <p:nvSpPr>
          <p:cNvPr id="115" name="Shape 92"/>
          <p:cNvSpPr/>
          <p:nvPr/>
        </p:nvSpPr>
        <p:spPr>
          <a:xfrm>
            <a:off x="4748845" y="3419856"/>
            <a:ext cx="0" cy="164592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</a:ln>
        </p:spPr>
      </p:sp>
      <p:sp>
        <p:nvSpPr>
          <p:cNvPr id="116" name="Shape 93"/>
          <p:cNvSpPr/>
          <p:nvPr/>
        </p:nvSpPr>
        <p:spPr>
          <a:xfrm>
            <a:off x="5529011" y="3419856"/>
            <a:ext cx="0" cy="164592"/>
          </a:xfrm>
          <a:prstGeom prst="line">
            <a:avLst/>
          </a:prstGeom>
          <a:noFill/>
          <a:ln w="15875">
            <a:solidFill>
              <a:srgbClr val="9FB3D9"/>
            </a:solidFill>
            <a:prstDash val="solid"/>
          </a:ln>
        </p:spPr>
      </p:sp>
      <p:sp>
        <p:nvSpPr>
          <p:cNvPr id="117" name="Text 94"/>
          <p:cNvSpPr/>
          <p:nvPr/>
        </p:nvSpPr>
        <p:spPr>
          <a:xfrm>
            <a:off x="4453128" y="37856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entities are connected</a:t>
            </a:r>
            <a:endParaRPr lang="en-US" sz="550" dirty="0"/>
          </a:p>
          <a:p>
            <a:pPr algn="l" indent="0" marL="0">
              <a:buNone/>
            </a:pPr>
            <a:r>
              <a:rPr lang="en-US" sz="55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(joins, cardinality, paths)</a:t>
            </a:r>
            <a:endParaRPr lang="en-US" sz="550" dirty="0"/>
          </a:p>
        </p:txBody>
      </p:sp>
      <p:sp>
        <p:nvSpPr>
          <p:cNvPr id="118" name="Shape 95"/>
          <p:cNvSpPr/>
          <p:nvPr/>
        </p:nvSpPr>
        <p:spPr>
          <a:xfrm>
            <a:off x="5843016" y="2633472"/>
            <a:ext cx="0" cy="2185416"/>
          </a:xfrm>
          <a:prstGeom prst="line">
            <a:avLst/>
          </a:prstGeom>
          <a:noFill/>
          <a:ln w="15875">
            <a:solidFill>
              <a:srgbClr val="D8DEEA"/>
            </a:solidFill>
            <a:prstDash val="solid"/>
          </a:ln>
        </p:spPr>
      </p:sp>
      <p:pic>
        <p:nvPicPr>
          <p:cNvPr id="119" name="Image 21" descr="/home/claude/crm-deck/icons/list-nav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0" y="2651760"/>
            <a:ext cx="146304" cy="146304"/>
          </a:xfrm>
          <a:prstGeom prst="rect">
            <a:avLst/>
          </a:prstGeom>
        </p:spPr>
      </p:pic>
      <p:sp>
        <p:nvSpPr>
          <p:cNvPr id="120" name="Text 96"/>
          <p:cNvSpPr/>
          <p:nvPr/>
        </p:nvSpPr>
        <p:spPr>
          <a:xfrm>
            <a:off x="6080760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121" name="Text 97"/>
          <p:cNvSpPr/>
          <p:nvPr/>
        </p:nvSpPr>
        <p:spPr>
          <a:xfrm>
            <a:off x="5879592" y="294436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</a:t>
            </a:r>
            <a:endParaRPr lang="en-US" sz="610" dirty="0"/>
          </a:p>
        </p:txBody>
      </p:sp>
      <p:sp>
        <p:nvSpPr>
          <p:cNvPr id="122" name="Text 98"/>
          <p:cNvSpPr/>
          <p:nvPr/>
        </p:nvSpPr>
        <p:spPr>
          <a:xfrm>
            <a:off x="5879592" y="308610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 Group</a:t>
            </a:r>
            <a:endParaRPr lang="en-US" sz="610" dirty="0"/>
          </a:p>
        </p:txBody>
      </p:sp>
      <p:sp>
        <p:nvSpPr>
          <p:cNvPr id="123" name="Text 99"/>
          <p:cNvSpPr/>
          <p:nvPr/>
        </p:nvSpPr>
        <p:spPr>
          <a:xfrm>
            <a:off x="5879592" y="322783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 Family</a:t>
            </a:r>
            <a:endParaRPr lang="en-US" sz="610" dirty="0"/>
          </a:p>
        </p:txBody>
      </p:sp>
      <p:sp>
        <p:nvSpPr>
          <p:cNvPr id="124" name="Text 100"/>
          <p:cNvSpPr/>
          <p:nvPr/>
        </p:nvSpPr>
        <p:spPr>
          <a:xfrm>
            <a:off x="5879592" y="336956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 Category</a:t>
            </a:r>
            <a:endParaRPr lang="en-US" sz="610" dirty="0"/>
          </a:p>
        </p:txBody>
      </p:sp>
      <p:sp>
        <p:nvSpPr>
          <p:cNvPr id="125" name="Text 101"/>
          <p:cNvSpPr/>
          <p:nvPr/>
        </p:nvSpPr>
        <p:spPr>
          <a:xfrm>
            <a:off x="5879592" y="3511296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Segment</a:t>
            </a:r>
            <a:endParaRPr lang="en-US" sz="610" dirty="0"/>
          </a:p>
        </p:txBody>
      </p:sp>
      <p:sp>
        <p:nvSpPr>
          <p:cNvPr id="126" name="Text 102"/>
          <p:cNvSpPr/>
          <p:nvPr/>
        </p:nvSpPr>
        <p:spPr>
          <a:xfrm>
            <a:off x="5879592" y="36530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</a:t>
            </a:r>
            <a:endParaRPr lang="en-US" sz="610" dirty="0"/>
          </a:p>
        </p:txBody>
      </p:sp>
      <p:sp>
        <p:nvSpPr>
          <p:cNvPr id="127" name="Text 103"/>
          <p:cNvSpPr/>
          <p:nvPr/>
        </p:nvSpPr>
        <p:spPr>
          <a:xfrm>
            <a:off x="5879592" y="379476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(Day/Week/Month)</a:t>
            </a:r>
            <a:endParaRPr lang="en-US" sz="610" dirty="0"/>
          </a:p>
        </p:txBody>
      </p:sp>
      <p:sp>
        <p:nvSpPr>
          <p:cNvPr id="128" name="Shape 104"/>
          <p:cNvSpPr/>
          <p:nvPr/>
        </p:nvSpPr>
        <p:spPr>
          <a:xfrm>
            <a:off x="7251192" y="2633472"/>
            <a:ext cx="0" cy="2185416"/>
          </a:xfrm>
          <a:prstGeom prst="line">
            <a:avLst/>
          </a:prstGeom>
          <a:noFill/>
          <a:ln w="15875">
            <a:solidFill>
              <a:srgbClr val="D8DEEA"/>
            </a:solidFill>
            <a:prstDash val="solid"/>
          </a:ln>
        </p:spPr>
      </p:sp>
      <p:pic>
        <p:nvPicPr>
          <p:cNvPr id="129" name="Image 22" descr="/home/claude/crm-deck/icons/filelines-nav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06056" y="2651760"/>
            <a:ext cx="146304" cy="146304"/>
          </a:xfrm>
          <a:prstGeom prst="rect">
            <a:avLst/>
          </a:prstGeom>
        </p:spPr>
      </p:pic>
      <p:sp>
        <p:nvSpPr>
          <p:cNvPr id="130" name="Text 105"/>
          <p:cNvSpPr/>
          <p:nvPr/>
        </p:nvSpPr>
        <p:spPr>
          <a:xfrm>
            <a:off x="7488936" y="2651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650" dirty="0"/>
          </a:p>
        </p:txBody>
      </p:sp>
      <p:sp>
        <p:nvSpPr>
          <p:cNvPr id="131" name="Text 106"/>
          <p:cNvSpPr/>
          <p:nvPr/>
        </p:nvSpPr>
        <p:spPr>
          <a:xfrm>
            <a:off x="7287768" y="31821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YAML / LookML / Cube Definitions</a:t>
            </a:r>
            <a:endParaRPr lang="en-US" sz="610" dirty="0"/>
          </a:p>
        </p:txBody>
      </p:sp>
      <p:sp>
        <p:nvSpPr>
          <p:cNvPr id="132" name="Text 107"/>
          <p:cNvSpPr/>
          <p:nvPr/>
        </p:nvSpPr>
        <p:spPr>
          <a:xfrm>
            <a:off x="7287768" y="34564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Version Controlled (Git)</a:t>
            </a:r>
            <a:endParaRPr lang="en-US" sz="610" dirty="0"/>
          </a:p>
        </p:txBody>
      </p:sp>
      <p:sp>
        <p:nvSpPr>
          <p:cNvPr id="133" name="Text 108"/>
          <p:cNvSpPr/>
          <p:nvPr/>
        </p:nvSpPr>
        <p:spPr>
          <a:xfrm>
            <a:off x="7287768" y="36118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Reusable &amp; Governed</a:t>
            </a:r>
            <a:endParaRPr lang="en-US" sz="610" dirty="0"/>
          </a:p>
        </p:txBody>
      </p:sp>
      <p:sp>
        <p:nvSpPr>
          <p:cNvPr id="134" name="Text 109"/>
          <p:cNvSpPr/>
          <p:nvPr/>
        </p:nvSpPr>
        <p:spPr>
          <a:xfrm>
            <a:off x="8750808" y="3543300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</a:t>
            </a:r>
            <a:endParaRPr lang="en-US" sz="800" dirty="0"/>
          </a:p>
        </p:txBody>
      </p:sp>
      <p:sp>
        <p:nvSpPr>
          <p:cNvPr id="135" name="Text 110"/>
          <p:cNvSpPr/>
          <p:nvPr/>
        </p:nvSpPr>
        <p:spPr>
          <a:xfrm>
            <a:off x="8933688" y="3543300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800" dirty="0"/>
          </a:p>
        </p:txBody>
      </p:sp>
      <p:sp>
        <p:nvSpPr>
          <p:cNvPr id="136" name="Shape 111"/>
          <p:cNvSpPr/>
          <p:nvPr/>
        </p:nvSpPr>
        <p:spPr>
          <a:xfrm>
            <a:off x="9235440" y="2359152"/>
            <a:ext cx="2816352" cy="253288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137" name="Text 112"/>
          <p:cNvSpPr/>
          <p:nvPr/>
        </p:nvSpPr>
        <p:spPr>
          <a:xfrm>
            <a:off x="9326880" y="24323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BUSINESS KNOWLEDGE (RAG)</a:t>
            </a:r>
            <a:endParaRPr lang="en-US" sz="900" dirty="0"/>
          </a:p>
        </p:txBody>
      </p:sp>
      <p:pic>
        <p:nvPicPr>
          <p:cNvPr id="138" name="Image 23" descr="/home/claude/crm-deck/icons/filelines-purpl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45168" y="2743200"/>
            <a:ext cx="137160" cy="137160"/>
          </a:xfrm>
          <a:prstGeom prst="rect">
            <a:avLst/>
          </a:prstGeom>
        </p:spPr>
      </p:pic>
      <p:sp>
        <p:nvSpPr>
          <p:cNvPr id="139" name="Text 113"/>
          <p:cNvSpPr/>
          <p:nvPr/>
        </p:nvSpPr>
        <p:spPr>
          <a:xfrm>
            <a:off x="9546336" y="27477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Playbooks</a:t>
            </a:r>
            <a:endParaRPr lang="en-US" sz="700" dirty="0"/>
          </a:p>
        </p:txBody>
      </p:sp>
      <p:pic>
        <p:nvPicPr>
          <p:cNvPr id="140" name="Image 24" descr="/home/claude/crm-deck/icons/filelines-purpl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45168" y="3012948"/>
            <a:ext cx="137160" cy="137160"/>
          </a:xfrm>
          <a:prstGeom prst="rect">
            <a:avLst/>
          </a:prstGeom>
        </p:spPr>
      </p:pic>
      <p:sp>
        <p:nvSpPr>
          <p:cNvPr id="141" name="Text 114"/>
          <p:cNvSpPr/>
          <p:nvPr/>
        </p:nvSpPr>
        <p:spPr>
          <a:xfrm>
            <a:off x="9546336" y="301752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700" dirty="0"/>
          </a:p>
        </p:txBody>
      </p:sp>
      <p:pic>
        <p:nvPicPr>
          <p:cNvPr id="142" name="Image 25" descr="/home/claude/crm-deck/icons/filelines-purpl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45168" y="3282696"/>
            <a:ext cx="137160" cy="137160"/>
          </a:xfrm>
          <a:prstGeom prst="rect">
            <a:avLst/>
          </a:prstGeom>
        </p:spPr>
      </p:pic>
      <p:sp>
        <p:nvSpPr>
          <p:cNvPr id="143" name="Text 115"/>
          <p:cNvSpPr/>
          <p:nvPr/>
        </p:nvSpPr>
        <p:spPr>
          <a:xfrm>
            <a:off x="9546336" y="328726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Messaging</a:t>
            </a:r>
            <a:endParaRPr lang="en-US" sz="700" dirty="0"/>
          </a:p>
        </p:txBody>
      </p:sp>
      <p:pic>
        <p:nvPicPr>
          <p:cNvPr id="144" name="Image 26" descr="/home/claude/crm-deck/icons/filelines-purpl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45168" y="3552444"/>
            <a:ext cx="137160" cy="137160"/>
          </a:xfrm>
          <a:prstGeom prst="rect">
            <a:avLst/>
          </a:prstGeom>
        </p:spPr>
      </p:pic>
      <p:sp>
        <p:nvSpPr>
          <p:cNvPr id="145" name="Text 116"/>
          <p:cNvSpPr/>
          <p:nvPr/>
        </p:nvSpPr>
        <p:spPr>
          <a:xfrm>
            <a:off x="9546336" y="35570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Creative Guidelines</a:t>
            </a:r>
            <a:endParaRPr lang="en-US" sz="700" dirty="0"/>
          </a:p>
        </p:txBody>
      </p:sp>
      <p:pic>
        <p:nvPicPr>
          <p:cNvPr id="146" name="Image 27" descr="/home/claude/crm-deck/icons/filelines-purpl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45168" y="3822192"/>
            <a:ext cx="137160" cy="137160"/>
          </a:xfrm>
          <a:prstGeom prst="rect">
            <a:avLst/>
          </a:prstGeom>
        </p:spPr>
      </p:pic>
      <p:sp>
        <p:nvSpPr>
          <p:cNvPr id="147" name="Text 117"/>
          <p:cNvSpPr/>
          <p:nvPr/>
        </p:nvSpPr>
        <p:spPr>
          <a:xfrm>
            <a:off x="9546336" y="382676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700" dirty="0"/>
          </a:p>
        </p:txBody>
      </p:sp>
      <p:pic>
        <p:nvPicPr>
          <p:cNvPr id="148" name="Image 28" descr="/home/claude/crm-deck/icons/filelines-purpl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45168" y="4091940"/>
            <a:ext cx="137160" cy="137160"/>
          </a:xfrm>
          <a:prstGeom prst="rect">
            <a:avLst/>
          </a:prstGeom>
        </p:spPr>
      </p:pic>
      <p:sp>
        <p:nvSpPr>
          <p:cNvPr id="149" name="Text 118"/>
          <p:cNvSpPr/>
          <p:nvPr/>
        </p:nvSpPr>
        <p:spPr>
          <a:xfrm>
            <a:off x="9546336" y="409651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 Docs</a:t>
            </a:r>
            <a:endParaRPr lang="en-US" sz="700" dirty="0"/>
          </a:p>
        </p:txBody>
      </p:sp>
      <p:pic>
        <p:nvPicPr>
          <p:cNvPr id="150" name="Image 29" descr="/home/claude/crm-deck/icons/filelines-purpl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45168" y="4361688"/>
            <a:ext cx="137160" cy="137160"/>
          </a:xfrm>
          <a:prstGeom prst="rect">
            <a:avLst/>
          </a:prstGeom>
        </p:spPr>
      </p:pic>
      <p:sp>
        <p:nvSpPr>
          <p:cNvPr id="151" name="Text 119"/>
          <p:cNvSpPr/>
          <p:nvPr/>
        </p:nvSpPr>
        <p:spPr>
          <a:xfrm>
            <a:off x="9546336" y="43662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Docs</a:t>
            </a:r>
            <a:endParaRPr lang="en-US" sz="700" dirty="0"/>
          </a:p>
        </p:txBody>
      </p:sp>
      <p:sp>
        <p:nvSpPr>
          <p:cNvPr id="152" name="Shape 120"/>
          <p:cNvSpPr/>
          <p:nvPr/>
        </p:nvSpPr>
        <p:spPr>
          <a:xfrm>
            <a:off x="10643616" y="2290572"/>
            <a:ext cx="0" cy="64008"/>
          </a:xfrm>
          <a:prstGeom prst="line">
            <a:avLst/>
          </a:prstGeom>
          <a:noFill/>
          <a:ln w="15875">
            <a:solidFill>
              <a:srgbClr val="1B2A5B"/>
            </a:solidFill>
            <a:prstDash val="solid"/>
          </a:ln>
        </p:spPr>
      </p:sp>
      <p:sp>
        <p:nvSpPr>
          <p:cNvPr id="153" name="Text 121"/>
          <p:cNvSpPr/>
          <p:nvPr/>
        </p:nvSpPr>
        <p:spPr>
          <a:xfrm>
            <a:off x="10588752" y="227685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154" name="Shape 122"/>
          <p:cNvSpPr/>
          <p:nvPr/>
        </p:nvSpPr>
        <p:spPr>
          <a:xfrm>
            <a:off x="137160" y="4965192"/>
            <a:ext cx="2194560" cy="1344168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5875">
            <a:solidFill>
              <a:srgbClr val="0F7A6B"/>
            </a:solidFill>
            <a:prstDash val="solid"/>
          </a:ln>
        </p:spPr>
      </p:sp>
      <p:sp>
        <p:nvSpPr>
          <p:cNvPr id="155" name="Shape 123"/>
          <p:cNvSpPr/>
          <p:nvPr/>
        </p:nvSpPr>
        <p:spPr>
          <a:xfrm>
            <a:off x="137160" y="4965192"/>
            <a:ext cx="2194560" cy="219456"/>
          </a:xfrm>
          <a:prstGeom prst="rect">
            <a:avLst/>
          </a:prstGeom>
          <a:solidFill>
            <a:srgbClr val="0F7A6B"/>
          </a:solidFill>
          <a:ln/>
        </p:spPr>
      </p:sp>
      <p:sp>
        <p:nvSpPr>
          <p:cNvPr id="156" name="Text 124"/>
          <p:cNvSpPr/>
          <p:nvPr/>
        </p:nvSpPr>
        <p:spPr>
          <a:xfrm>
            <a:off x="210312" y="496519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DATA SOURCES</a:t>
            </a:r>
            <a:endParaRPr lang="en-US" sz="850" dirty="0"/>
          </a:p>
        </p:txBody>
      </p:sp>
      <p:pic>
        <p:nvPicPr>
          <p:cNvPr id="157" name="Image 30" descr="/home/claude/crm-deck/icons/use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0312" y="5239512"/>
            <a:ext cx="109728" cy="109728"/>
          </a:xfrm>
          <a:prstGeom prst="rect">
            <a:avLst/>
          </a:prstGeom>
        </p:spPr>
      </p:pic>
      <p:sp>
        <p:nvSpPr>
          <p:cNvPr id="158" name="Text 125"/>
          <p:cNvSpPr/>
          <p:nvPr/>
        </p:nvSpPr>
        <p:spPr>
          <a:xfrm>
            <a:off x="365760" y="5230368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Account</a:t>
            </a:r>
            <a:endParaRPr lang="en-US" sz="590" dirty="0"/>
          </a:p>
        </p:txBody>
      </p:sp>
      <p:sp>
        <p:nvSpPr>
          <p:cNvPr id="159" name="Text 126"/>
          <p:cNvSpPr/>
          <p:nvPr/>
        </p:nvSpPr>
        <p:spPr>
          <a:xfrm>
            <a:off x="365760" y="5326380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(Profiles, Preferences, Devices)</a:t>
            </a:r>
            <a:endParaRPr lang="en-US" sz="490" dirty="0"/>
          </a:p>
        </p:txBody>
      </p:sp>
      <p:pic>
        <p:nvPicPr>
          <p:cNvPr id="160" name="Image 31" descr="/home/claude/crm-deck/icons/cart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" y="5420563"/>
            <a:ext cx="109728" cy="109728"/>
          </a:xfrm>
          <a:prstGeom prst="rect">
            <a:avLst/>
          </a:prstGeom>
        </p:spPr>
      </p:pic>
      <p:sp>
        <p:nvSpPr>
          <p:cNvPr id="161" name="Text 127"/>
          <p:cNvSpPr/>
          <p:nvPr/>
        </p:nvSpPr>
        <p:spPr>
          <a:xfrm>
            <a:off x="365760" y="5411419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eStore</a:t>
            </a:r>
            <a:endParaRPr lang="en-US" sz="590" dirty="0"/>
          </a:p>
        </p:txBody>
      </p:sp>
      <p:sp>
        <p:nvSpPr>
          <p:cNvPr id="162" name="Text 128"/>
          <p:cNvSpPr/>
          <p:nvPr/>
        </p:nvSpPr>
        <p:spPr>
          <a:xfrm>
            <a:off x="365760" y="5507431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(Orders, Products, Payments, Returns)</a:t>
            </a:r>
            <a:endParaRPr lang="en-US" sz="490" dirty="0"/>
          </a:p>
        </p:txBody>
      </p:sp>
      <p:pic>
        <p:nvPicPr>
          <p:cNvPr id="163" name="Image 32" descr="/home/claude/crm-deck/icons/envelop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0312" y="5601614"/>
            <a:ext cx="109728" cy="109728"/>
          </a:xfrm>
          <a:prstGeom prst="rect">
            <a:avLst/>
          </a:prstGeom>
        </p:spPr>
      </p:pic>
      <p:sp>
        <p:nvSpPr>
          <p:cNvPr id="164" name="Text 129"/>
          <p:cNvSpPr/>
          <p:nvPr/>
        </p:nvSpPr>
        <p:spPr>
          <a:xfrm>
            <a:off x="365760" y="5592470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Campaign Data</a:t>
            </a:r>
            <a:endParaRPr lang="en-US" sz="590" dirty="0"/>
          </a:p>
        </p:txBody>
      </p:sp>
      <p:sp>
        <p:nvSpPr>
          <p:cNvPr id="165" name="Text 130"/>
          <p:cNvSpPr/>
          <p:nvPr/>
        </p:nvSpPr>
        <p:spPr>
          <a:xfrm>
            <a:off x="365760" y="5688482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(Email, SMS, Push, History, Conversions)</a:t>
            </a:r>
            <a:endParaRPr lang="en-US" sz="490" dirty="0"/>
          </a:p>
        </p:txBody>
      </p:sp>
      <p:pic>
        <p:nvPicPr>
          <p:cNvPr id="166" name="Image 33" descr="/home/claude/crm-deck/icons/chartbar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0312" y="5782666"/>
            <a:ext cx="109728" cy="109728"/>
          </a:xfrm>
          <a:prstGeom prst="rect">
            <a:avLst/>
          </a:prstGeom>
        </p:spPr>
      </p:pic>
      <p:sp>
        <p:nvSpPr>
          <p:cNvPr id="167" name="Text 131"/>
          <p:cNvSpPr/>
          <p:nvPr/>
        </p:nvSpPr>
        <p:spPr>
          <a:xfrm>
            <a:off x="365760" y="5773522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Analytics</a:t>
            </a:r>
            <a:endParaRPr lang="en-US" sz="590" dirty="0"/>
          </a:p>
        </p:txBody>
      </p:sp>
      <p:sp>
        <p:nvSpPr>
          <p:cNvPr id="168" name="Text 132"/>
          <p:cNvSpPr/>
          <p:nvPr/>
        </p:nvSpPr>
        <p:spPr>
          <a:xfrm>
            <a:off x="365760" y="5869534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 Views, Events, Behavior)</a:t>
            </a:r>
            <a:endParaRPr lang="en-US" sz="490" dirty="0"/>
          </a:p>
        </p:txBody>
      </p:sp>
      <p:pic>
        <p:nvPicPr>
          <p:cNvPr id="169" name="Image 34" descr="/home/claude/crm-deck/icons/databas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10312" y="5963717"/>
            <a:ext cx="109728" cy="109728"/>
          </a:xfrm>
          <a:prstGeom prst="rect">
            <a:avLst/>
          </a:prstGeom>
        </p:spPr>
      </p:pic>
      <p:sp>
        <p:nvSpPr>
          <p:cNvPr id="170" name="Text 133"/>
          <p:cNvSpPr/>
          <p:nvPr/>
        </p:nvSpPr>
        <p:spPr>
          <a:xfrm>
            <a:off x="365760" y="5954573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590" dirty="0"/>
          </a:p>
        </p:txBody>
      </p:sp>
      <p:sp>
        <p:nvSpPr>
          <p:cNvPr id="171" name="Text 134"/>
          <p:cNvSpPr/>
          <p:nvPr/>
        </p:nvSpPr>
        <p:spPr>
          <a:xfrm>
            <a:off x="365760" y="6050585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(CLV, Propensity, Rec Score, etc.)</a:t>
            </a:r>
            <a:endParaRPr lang="en-US" sz="490" dirty="0"/>
          </a:p>
        </p:txBody>
      </p:sp>
      <p:pic>
        <p:nvPicPr>
          <p:cNvPr id="172" name="Image 35" descr="/home/claude/crm-deck/icons/star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10312" y="6144768"/>
            <a:ext cx="109728" cy="109728"/>
          </a:xfrm>
          <a:prstGeom prst="rect">
            <a:avLst/>
          </a:prstGeom>
        </p:spPr>
      </p:pic>
      <p:sp>
        <p:nvSpPr>
          <p:cNvPr id="173" name="Text 135"/>
          <p:cNvSpPr/>
          <p:nvPr/>
        </p:nvSpPr>
        <p:spPr>
          <a:xfrm>
            <a:off x="365760" y="6135624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Models</a:t>
            </a:r>
            <a:endParaRPr lang="en-US" sz="590" dirty="0"/>
          </a:p>
        </p:txBody>
      </p:sp>
      <p:sp>
        <p:nvSpPr>
          <p:cNvPr id="174" name="Text 136"/>
          <p:cNvSpPr/>
          <p:nvPr/>
        </p:nvSpPr>
        <p:spPr>
          <a:xfrm>
            <a:off x="365760" y="6231636"/>
            <a:ext cx="1892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Best Product, Affinity Scores)</a:t>
            </a:r>
            <a:endParaRPr lang="en-US" sz="490" dirty="0"/>
          </a:p>
        </p:txBody>
      </p:sp>
      <p:sp>
        <p:nvSpPr>
          <p:cNvPr id="175" name="Shape 137"/>
          <p:cNvSpPr/>
          <p:nvPr/>
        </p:nvSpPr>
        <p:spPr>
          <a:xfrm>
            <a:off x="2560320" y="4965192"/>
            <a:ext cx="6172200" cy="1344168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5875">
            <a:solidFill>
              <a:srgbClr val="0F7A6B"/>
            </a:solidFill>
            <a:prstDash val="solid"/>
          </a:ln>
        </p:spPr>
      </p:sp>
      <p:sp>
        <p:nvSpPr>
          <p:cNvPr id="176" name="Shape 138"/>
          <p:cNvSpPr/>
          <p:nvPr/>
        </p:nvSpPr>
        <p:spPr>
          <a:xfrm>
            <a:off x="2560320" y="4965192"/>
            <a:ext cx="6172200" cy="219456"/>
          </a:xfrm>
          <a:prstGeom prst="rect">
            <a:avLst/>
          </a:prstGeom>
          <a:solidFill>
            <a:srgbClr val="0F7A6B"/>
          </a:solidFill>
          <a:ln/>
        </p:spPr>
      </p:sp>
      <p:sp>
        <p:nvSpPr>
          <p:cNvPr id="177" name="Text 139"/>
          <p:cNvSpPr/>
          <p:nvPr/>
        </p:nvSpPr>
        <p:spPr>
          <a:xfrm>
            <a:off x="2633472" y="4965192"/>
            <a:ext cx="6025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GOLDEN CUSTOMER 360 (Trusted, Curated &amp; Unified)</a:t>
            </a:r>
            <a:endParaRPr lang="en-US" sz="900" dirty="0"/>
          </a:p>
        </p:txBody>
      </p:sp>
      <p:pic>
        <p:nvPicPr>
          <p:cNvPr id="178" name="Image 36" descr="/home/claude/crm-deck/icons/fingerprint-navy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867660" y="5257800"/>
            <a:ext cx="201168" cy="201168"/>
          </a:xfrm>
          <a:prstGeom prst="rect">
            <a:avLst/>
          </a:prstGeom>
        </p:spPr>
      </p:pic>
      <p:sp>
        <p:nvSpPr>
          <p:cNvPr id="179" name="Text 140"/>
          <p:cNvSpPr/>
          <p:nvPr/>
        </p:nvSpPr>
        <p:spPr>
          <a:xfrm>
            <a:off x="2642616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570" dirty="0"/>
          </a:p>
        </p:txBody>
      </p:sp>
      <p:pic>
        <p:nvPicPr>
          <p:cNvPr id="180" name="Image 37" descr="/home/claude/crm-deck/icons/user-teal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537204" y="5257800"/>
            <a:ext cx="201168" cy="201168"/>
          </a:xfrm>
          <a:prstGeom prst="rect">
            <a:avLst/>
          </a:prstGeom>
        </p:spPr>
      </p:pic>
      <p:sp>
        <p:nvSpPr>
          <p:cNvPr id="181" name="Text 141"/>
          <p:cNvSpPr/>
          <p:nvPr/>
        </p:nvSpPr>
        <p:spPr>
          <a:xfrm>
            <a:off x="3312160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570" dirty="0"/>
          </a:p>
        </p:txBody>
      </p:sp>
      <p:pic>
        <p:nvPicPr>
          <p:cNvPr id="182" name="Image 38" descr="/home/claude/crm-deck/icons/mobile-teal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206748" y="5257800"/>
            <a:ext cx="201168" cy="201168"/>
          </a:xfrm>
          <a:prstGeom prst="rect">
            <a:avLst/>
          </a:prstGeom>
        </p:spPr>
      </p:pic>
      <p:sp>
        <p:nvSpPr>
          <p:cNvPr id="183" name="Text 142"/>
          <p:cNvSpPr/>
          <p:nvPr/>
        </p:nvSpPr>
        <p:spPr>
          <a:xfrm>
            <a:off x="3981704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570" dirty="0"/>
          </a:p>
        </p:txBody>
      </p:sp>
      <p:pic>
        <p:nvPicPr>
          <p:cNvPr id="184" name="Image 39" descr="/home/claude/crm-deck/icons/shoppingbag-teal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76292" y="5257800"/>
            <a:ext cx="201168" cy="201168"/>
          </a:xfrm>
          <a:prstGeom prst="rect">
            <a:avLst/>
          </a:prstGeom>
        </p:spPr>
      </p:pic>
      <p:sp>
        <p:nvSpPr>
          <p:cNvPr id="185" name="Text 143"/>
          <p:cNvSpPr/>
          <p:nvPr/>
        </p:nvSpPr>
        <p:spPr>
          <a:xfrm>
            <a:off x="4651248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570" dirty="0"/>
          </a:p>
        </p:txBody>
      </p:sp>
      <p:pic>
        <p:nvPicPr>
          <p:cNvPr id="186" name="Image 40" descr="/home/claude/crm-deck/icons/chartline-teal2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545836" y="5257800"/>
            <a:ext cx="201168" cy="201168"/>
          </a:xfrm>
          <a:prstGeom prst="rect">
            <a:avLst/>
          </a:prstGeom>
        </p:spPr>
      </p:pic>
      <p:sp>
        <p:nvSpPr>
          <p:cNvPr id="187" name="Text 144"/>
          <p:cNvSpPr/>
          <p:nvPr/>
        </p:nvSpPr>
        <p:spPr>
          <a:xfrm>
            <a:off x="5320792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570" dirty="0"/>
          </a:p>
        </p:txBody>
      </p:sp>
      <p:pic>
        <p:nvPicPr>
          <p:cNvPr id="188" name="Image 41" descr="/home/claude/crm-deck/icons/dollar-teal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15380" y="5257800"/>
            <a:ext cx="201168" cy="201168"/>
          </a:xfrm>
          <a:prstGeom prst="rect">
            <a:avLst/>
          </a:prstGeom>
        </p:spPr>
      </p:pic>
      <p:sp>
        <p:nvSpPr>
          <p:cNvPr id="189" name="Text 145"/>
          <p:cNvSpPr/>
          <p:nvPr/>
        </p:nvSpPr>
        <p:spPr>
          <a:xfrm>
            <a:off x="5990336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&amp;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</a:t>
            </a:r>
            <a:endParaRPr lang="en-US" sz="570" dirty="0"/>
          </a:p>
        </p:txBody>
      </p:sp>
      <p:pic>
        <p:nvPicPr>
          <p:cNvPr id="190" name="Image 42" descr="/home/claude/crm-deck/icons/star-teal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84924" y="5257800"/>
            <a:ext cx="201168" cy="201168"/>
          </a:xfrm>
          <a:prstGeom prst="rect">
            <a:avLst/>
          </a:prstGeom>
        </p:spPr>
      </p:pic>
      <p:sp>
        <p:nvSpPr>
          <p:cNvPr id="191" name="Text 146"/>
          <p:cNvSpPr/>
          <p:nvPr/>
        </p:nvSpPr>
        <p:spPr>
          <a:xfrm>
            <a:off x="6659880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570" dirty="0"/>
          </a:p>
        </p:txBody>
      </p:sp>
      <p:pic>
        <p:nvPicPr>
          <p:cNvPr id="192" name="Image 43" descr="/home/claude/crm-deck/icons/calendarclock-teal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54468" y="5257800"/>
            <a:ext cx="201168" cy="201168"/>
          </a:xfrm>
          <a:prstGeom prst="rect">
            <a:avLst/>
          </a:prstGeom>
        </p:spPr>
      </p:pic>
      <p:sp>
        <p:nvSpPr>
          <p:cNvPr id="193" name="Text 147"/>
          <p:cNvSpPr/>
          <p:nvPr/>
        </p:nvSpPr>
        <p:spPr>
          <a:xfrm>
            <a:off x="7329424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570" dirty="0"/>
          </a:p>
        </p:txBody>
      </p:sp>
      <p:pic>
        <p:nvPicPr>
          <p:cNvPr id="194" name="Image 44" descr="/home/claude/crm-deck/icons/sliders-teal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224012" y="5257800"/>
            <a:ext cx="201168" cy="201168"/>
          </a:xfrm>
          <a:prstGeom prst="rect">
            <a:avLst/>
          </a:prstGeom>
        </p:spPr>
      </p:pic>
      <p:sp>
        <p:nvSpPr>
          <p:cNvPr id="195" name="Text 148"/>
          <p:cNvSpPr/>
          <p:nvPr/>
        </p:nvSpPr>
        <p:spPr>
          <a:xfrm>
            <a:off x="7998968" y="5495544"/>
            <a:ext cx="63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570" dirty="0"/>
          </a:p>
        </p:txBody>
      </p:sp>
      <p:sp>
        <p:nvSpPr>
          <p:cNvPr id="196" name="Shape 149"/>
          <p:cNvSpPr/>
          <p:nvPr/>
        </p:nvSpPr>
        <p:spPr>
          <a:xfrm>
            <a:off x="2633472" y="5998464"/>
            <a:ext cx="6025896" cy="237744"/>
          </a:xfrm>
          <a:prstGeom prst="roundRect">
            <a:avLst>
              <a:gd name="adj" fmla="val 19231"/>
            </a:avLst>
          </a:prstGeom>
          <a:solidFill>
            <a:srgbClr val="FBF2DF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7" name="Text 150"/>
          <p:cNvSpPr/>
          <p:nvPr/>
        </p:nvSpPr>
        <p:spPr>
          <a:xfrm>
            <a:off x="2633472" y="5998464"/>
            <a:ext cx="6025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 •  Deduplication  •  Standardization  •  Enrichment  •  Privacy &amp; Consent  •  Governance</a:t>
            </a:r>
            <a:endParaRPr lang="en-US" sz="660" dirty="0"/>
          </a:p>
        </p:txBody>
      </p:sp>
      <p:sp>
        <p:nvSpPr>
          <p:cNvPr id="198" name="Shape 151"/>
          <p:cNvSpPr/>
          <p:nvPr/>
        </p:nvSpPr>
        <p:spPr>
          <a:xfrm>
            <a:off x="9235440" y="4965192"/>
            <a:ext cx="2816352" cy="1344168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199" name="Shape 152"/>
          <p:cNvSpPr/>
          <p:nvPr/>
        </p:nvSpPr>
        <p:spPr>
          <a:xfrm>
            <a:off x="9235440" y="4965192"/>
            <a:ext cx="2816352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200" name="Text 153"/>
          <p:cNvSpPr/>
          <p:nvPr/>
        </p:nvSpPr>
        <p:spPr>
          <a:xfrm>
            <a:off x="9308592" y="49651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DATA PLATFORM</a:t>
            </a:r>
            <a:endParaRPr lang="en-US" sz="900" dirty="0"/>
          </a:p>
        </p:txBody>
      </p:sp>
      <p:pic>
        <p:nvPicPr>
          <p:cNvPr id="201" name="Image 45" descr="/home/claude/crm-deck/icons/database-navy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345168" y="5294376"/>
            <a:ext cx="146304" cy="146304"/>
          </a:xfrm>
          <a:prstGeom prst="rect">
            <a:avLst/>
          </a:prstGeom>
        </p:spPr>
      </p:pic>
      <p:sp>
        <p:nvSpPr>
          <p:cNvPr id="202" name="Text 154"/>
          <p:cNvSpPr/>
          <p:nvPr/>
        </p:nvSpPr>
        <p:spPr>
          <a:xfrm>
            <a:off x="9546336" y="530352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Data Warehouse</a:t>
            </a:r>
            <a:endParaRPr lang="en-US" sz="720" dirty="0"/>
          </a:p>
        </p:txBody>
      </p:sp>
      <p:pic>
        <p:nvPicPr>
          <p:cNvPr id="203" name="Image 46" descr="/home/claude/crm-deck/icons/water-navy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345168" y="5513832"/>
            <a:ext cx="146304" cy="146304"/>
          </a:xfrm>
          <a:prstGeom prst="rect">
            <a:avLst/>
          </a:prstGeom>
        </p:spPr>
      </p:pic>
      <p:sp>
        <p:nvSpPr>
          <p:cNvPr id="204" name="Text 155"/>
          <p:cNvSpPr/>
          <p:nvPr/>
        </p:nvSpPr>
        <p:spPr>
          <a:xfrm>
            <a:off x="9546336" y="552297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(GCS)</a:t>
            </a:r>
            <a:endParaRPr lang="en-US" sz="720" dirty="0"/>
          </a:p>
        </p:txBody>
      </p:sp>
      <p:pic>
        <p:nvPicPr>
          <p:cNvPr id="205" name="Image 47" descr="/home/claude/crm-deck/icons/sync-navy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345168" y="5733288"/>
            <a:ext cx="146304" cy="146304"/>
          </a:xfrm>
          <a:prstGeom prst="rect">
            <a:avLst/>
          </a:prstGeom>
        </p:spPr>
      </p:pic>
      <p:sp>
        <p:nvSpPr>
          <p:cNvPr id="206" name="Text 156"/>
          <p:cNvSpPr/>
          <p:nvPr/>
        </p:nvSpPr>
        <p:spPr>
          <a:xfrm>
            <a:off x="9546336" y="57424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 Pipelines (Dataflow)</a:t>
            </a:r>
            <a:endParaRPr lang="en-US" sz="720" dirty="0"/>
          </a:p>
        </p:txBody>
      </p:sp>
      <p:pic>
        <p:nvPicPr>
          <p:cNvPr id="207" name="Image 48" descr="/home/claude/crm-deck/icons/sitemap-navy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345168" y="5952744"/>
            <a:ext cx="146304" cy="146304"/>
          </a:xfrm>
          <a:prstGeom prst="rect">
            <a:avLst/>
          </a:prstGeom>
        </p:spPr>
      </p:pic>
      <p:sp>
        <p:nvSpPr>
          <p:cNvPr id="208" name="Text 157"/>
          <p:cNvSpPr/>
          <p:nvPr/>
        </p:nvSpPr>
        <p:spPr>
          <a:xfrm>
            <a:off x="9546336" y="596188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(Airflow)</a:t>
            </a:r>
            <a:endParaRPr lang="en-US" sz="720" dirty="0"/>
          </a:p>
        </p:txBody>
      </p:sp>
      <p:pic>
        <p:nvPicPr>
          <p:cNvPr id="209" name="Image 49" descr="/home/claude/crm-deck/icons/search-navy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45168" y="6172200"/>
            <a:ext cx="146304" cy="146304"/>
          </a:xfrm>
          <a:prstGeom prst="rect">
            <a:avLst/>
          </a:prstGeom>
        </p:spPr>
      </p:pic>
      <p:sp>
        <p:nvSpPr>
          <p:cNvPr id="210" name="Text 158"/>
          <p:cNvSpPr/>
          <p:nvPr/>
        </p:nvSpPr>
        <p:spPr>
          <a:xfrm>
            <a:off x="9546336" y="618134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&amp; Lineage</a:t>
            </a:r>
            <a:endParaRPr lang="en-US" sz="720" dirty="0"/>
          </a:p>
        </p:txBody>
      </p:sp>
      <p:sp>
        <p:nvSpPr>
          <p:cNvPr id="211" name="Shape 159"/>
          <p:cNvSpPr/>
          <p:nvPr/>
        </p:nvSpPr>
        <p:spPr>
          <a:xfrm>
            <a:off x="2350008" y="5591556"/>
            <a:ext cx="128016" cy="91440"/>
          </a:xfrm>
          <a:prstGeom prst="rightArrow">
            <a:avLst/>
          </a:prstGeom>
          <a:solidFill>
            <a:srgbClr val="0F7A6B"/>
          </a:solidFill>
          <a:ln/>
        </p:spPr>
      </p:sp>
      <p:sp>
        <p:nvSpPr>
          <p:cNvPr id="212" name="Shape 160"/>
          <p:cNvSpPr/>
          <p:nvPr/>
        </p:nvSpPr>
        <p:spPr>
          <a:xfrm>
            <a:off x="8750808" y="5591556"/>
            <a:ext cx="128016" cy="91440"/>
          </a:xfrm>
          <a:prstGeom prst="rightArrow">
            <a:avLst/>
          </a:prstGeom>
          <a:solidFill>
            <a:srgbClr val="0F7A6B"/>
          </a:solidFill>
          <a:ln/>
        </p:spPr>
      </p:sp>
      <p:sp>
        <p:nvSpPr>
          <p:cNvPr id="213" name="Shape 161"/>
          <p:cNvSpPr/>
          <p:nvPr/>
        </p:nvSpPr>
        <p:spPr>
          <a:xfrm>
            <a:off x="54864" y="2103120"/>
            <a:ext cx="0" cy="3044952"/>
          </a:xfrm>
          <a:prstGeom prst="line">
            <a:avLst/>
          </a:prstGeom>
          <a:noFill/>
          <a:ln w="15875">
            <a:solidFill>
              <a:srgbClr val="1B2A5B"/>
            </a:solidFill>
            <a:prstDash val="dash"/>
          </a:ln>
        </p:spPr>
      </p:sp>
      <p:sp>
        <p:nvSpPr>
          <p:cNvPr id="214" name="Shape 162"/>
          <p:cNvSpPr/>
          <p:nvPr/>
        </p:nvSpPr>
        <p:spPr>
          <a:xfrm>
            <a:off x="54864" y="2103120"/>
            <a:ext cx="82296" cy="0"/>
          </a:xfrm>
          <a:prstGeom prst="line">
            <a:avLst/>
          </a:prstGeom>
          <a:noFill/>
          <a:ln w="15875">
            <a:solidFill>
              <a:srgbClr val="1B2A5B"/>
            </a:solidFill>
            <a:prstDash val="dash"/>
          </a:ln>
        </p:spPr>
      </p:sp>
      <p:sp>
        <p:nvSpPr>
          <p:cNvPr id="215" name="Shape 163"/>
          <p:cNvSpPr/>
          <p:nvPr/>
        </p:nvSpPr>
        <p:spPr>
          <a:xfrm>
            <a:off x="54864" y="5148072"/>
            <a:ext cx="82296" cy="0"/>
          </a:xfrm>
          <a:prstGeom prst="line">
            <a:avLst/>
          </a:prstGeom>
          <a:noFill/>
          <a:ln w="15875">
            <a:solidFill>
              <a:srgbClr val="1B2A5B"/>
            </a:solidFill>
            <a:prstDash val="dash"/>
          </a:ln>
        </p:spPr>
      </p:sp>
      <p:sp>
        <p:nvSpPr>
          <p:cNvPr id="216" name="Text 164"/>
          <p:cNvSpPr/>
          <p:nvPr/>
        </p:nvSpPr>
        <p:spPr>
          <a:xfrm>
            <a:off x="0" y="20299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600" dirty="0"/>
          </a:p>
        </p:txBody>
      </p:sp>
      <p:sp>
        <p:nvSpPr>
          <p:cNvPr id="217" name="Shape 165"/>
          <p:cNvSpPr/>
          <p:nvPr/>
        </p:nvSpPr>
        <p:spPr>
          <a:xfrm>
            <a:off x="137160" y="6382512"/>
            <a:ext cx="11914632" cy="402336"/>
          </a:xfrm>
          <a:prstGeom prst="roundRect">
            <a:avLst>
              <a:gd name="adj" fmla="val 11364"/>
            </a:avLst>
          </a:prstGeom>
          <a:solidFill>
            <a:srgbClr val="F5F7FB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218" name="Shape 166"/>
          <p:cNvSpPr/>
          <p:nvPr/>
        </p:nvSpPr>
        <p:spPr>
          <a:xfrm>
            <a:off x="137160" y="6382512"/>
            <a:ext cx="11914632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219" name="Text 167"/>
          <p:cNvSpPr/>
          <p:nvPr/>
        </p:nvSpPr>
        <p:spPr>
          <a:xfrm>
            <a:off x="210312" y="6382512"/>
            <a:ext cx="1176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GOVERNANCE, SECURITY &amp; OPERATIONS (Across All Layers)</a:t>
            </a:r>
            <a:endParaRPr lang="en-US" sz="950" dirty="0"/>
          </a:p>
        </p:txBody>
      </p:sp>
      <p:pic>
        <p:nvPicPr>
          <p:cNvPr id="220" name="Image 50" descr="/home/claude/crm-deck/icons/lock-navy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65176" y="6638544"/>
            <a:ext cx="155448" cy="155448"/>
          </a:xfrm>
          <a:prstGeom prst="rect">
            <a:avLst/>
          </a:prstGeom>
        </p:spPr>
      </p:pic>
      <p:sp>
        <p:nvSpPr>
          <p:cNvPr id="221" name="Text 168"/>
          <p:cNvSpPr/>
          <p:nvPr/>
        </p:nvSpPr>
        <p:spPr>
          <a:xfrm>
            <a:off x="466344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(RBAC / ABAC)</a:t>
            </a:r>
            <a:endParaRPr lang="en-US" sz="620" dirty="0"/>
          </a:p>
        </p:txBody>
      </p:sp>
      <p:pic>
        <p:nvPicPr>
          <p:cNvPr id="222" name="Image 51" descr="/home/claude/crm-deck/icons/table-navy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754505" y="6638544"/>
            <a:ext cx="155448" cy="155448"/>
          </a:xfrm>
          <a:prstGeom prst="rect">
            <a:avLst/>
          </a:prstGeom>
        </p:spPr>
      </p:pic>
      <p:sp>
        <p:nvSpPr>
          <p:cNvPr id="223" name="Text 169"/>
          <p:cNvSpPr/>
          <p:nvPr/>
        </p:nvSpPr>
        <p:spPr>
          <a:xfrm>
            <a:off x="1955673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Column Level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20" dirty="0"/>
          </a:p>
        </p:txBody>
      </p:sp>
      <p:pic>
        <p:nvPicPr>
          <p:cNvPr id="224" name="Image 52" descr="/home/claude/crm-deck/icons/shieldcheck-navy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43834" y="6638544"/>
            <a:ext cx="155448" cy="155448"/>
          </a:xfrm>
          <a:prstGeom prst="rect">
            <a:avLst/>
          </a:prstGeom>
        </p:spPr>
      </p:pic>
      <p:sp>
        <p:nvSpPr>
          <p:cNvPr id="225" name="Text 170"/>
          <p:cNvSpPr/>
          <p:nvPr/>
        </p:nvSpPr>
        <p:spPr>
          <a:xfrm>
            <a:off x="3445002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(Encryption, Masking)</a:t>
            </a:r>
            <a:endParaRPr lang="en-US" sz="620" dirty="0"/>
          </a:p>
        </p:txBody>
      </p:sp>
      <p:pic>
        <p:nvPicPr>
          <p:cNvPr id="226" name="Image 53" descr="/home/claude/crm-deck/icons/clipboard-navy2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733163" y="6638544"/>
            <a:ext cx="155448" cy="155448"/>
          </a:xfrm>
          <a:prstGeom prst="rect">
            <a:avLst/>
          </a:prstGeom>
        </p:spPr>
      </p:pic>
      <p:sp>
        <p:nvSpPr>
          <p:cNvPr id="227" name="Text 171"/>
          <p:cNvSpPr/>
          <p:nvPr/>
        </p:nvSpPr>
        <p:spPr>
          <a:xfrm>
            <a:off x="4934331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620" dirty="0"/>
          </a:p>
        </p:txBody>
      </p:sp>
      <p:pic>
        <p:nvPicPr>
          <p:cNvPr id="228" name="Image 54" descr="/home/claude/crm-deck/icons/sharenodes-navy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222492" y="6638544"/>
            <a:ext cx="155448" cy="155448"/>
          </a:xfrm>
          <a:prstGeom prst="rect">
            <a:avLst/>
          </a:prstGeom>
        </p:spPr>
      </p:pic>
      <p:sp>
        <p:nvSpPr>
          <p:cNvPr id="229" name="Text 172"/>
          <p:cNvSpPr/>
          <p:nvPr/>
        </p:nvSpPr>
        <p:spPr>
          <a:xfrm>
            <a:off x="6423660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&amp;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620" dirty="0"/>
          </a:p>
        </p:txBody>
      </p:sp>
      <p:pic>
        <p:nvPicPr>
          <p:cNvPr id="230" name="Image 55" descr="/home/claude/crm-deck/icons/bell-navy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711821" y="6638544"/>
            <a:ext cx="155448" cy="155448"/>
          </a:xfrm>
          <a:prstGeom prst="rect">
            <a:avLst/>
          </a:prstGeom>
        </p:spPr>
      </p:pic>
      <p:sp>
        <p:nvSpPr>
          <p:cNvPr id="231" name="Text 173"/>
          <p:cNvSpPr/>
          <p:nvPr/>
        </p:nvSpPr>
        <p:spPr>
          <a:xfrm>
            <a:off x="7912989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620" dirty="0"/>
          </a:p>
        </p:txBody>
      </p:sp>
      <p:pic>
        <p:nvPicPr>
          <p:cNvPr id="232" name="Image 56" descr="/home/claude/crm-deck/icons/codebranch-navy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201150" y="6638544"/>
            <a:ext cx="155448" cy="155448"/>
          </a:xfrm>
          <a:prstGeom prst="rect">
            <a:avLst/>
          </a:prstGeom>
        </p:spPr>
      </p:pic>
      <p:sp>
        <p:nvSpPr>
          <p:cNvPr id="233" name="Text 174"/>
          <p:cNvSpPr/>
          <p:nvPr/>
        </p:nvSpPr>
        <p:spPr>
          <a:xfrm>
            <a:off x="9402318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620" dirty="0"/>
          </a:p>
        </p:txBody>
      </p:sp>
      <p:pic>
        <p:nvPicPr>
          <p:cNvPr id="234" name="Image 57" descr="/home/claude/crm-deck/icons/clock-navy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690479" y="6638544"/>
            <a:ext cx="155448" cy="155448"/>
          </a:xfrm>
          <a:prstGeom prst="rect">
            <a:avLst/>
          </a:prstGeom>
        </p:spPr>
      </p:pic>
      <p:sp>
        <p:nvSpPr>
          <p:cNvPr id="235" name="Text 175"/>
          <p:cNvSpPr/>
          <p:nvPr/>
        </p:nvSpPr>
        <p:spPr>
          <a:xfrm>
            <a:off x="10891647" y="6629400"/>
            <a:ext cx="1086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Monitoring</a:t>
            </a:r>
            <a:endParaRPr lang="en-US" sz="620" dirty="0"/>
          </a:p>
          <a:p>
            <a:pPr algn="l" indent="0" marL="0">
              <a:buNone/>
            </a:pPr>
            <a:r>
              <a:rPr lang="en-US" sz="6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SLAs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2026-07-16T02:08:18Z</dcterms:created>
  <dcterms:modified xsi:type="dcterms:W3CDTF">2026-07-16T02:08:18Z</dcterms:modified>
</cp:coreProperties>
</file>