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7.png"/><Relationship Id="rId9" Type="http://schemas.openxmlformats.org/officeDocument/2006/relationships/image" Target="../media/image-1-7.png"/><Relationship Id="rId10" Type="http://schemas.openxmlformats.org/officeDocument/2006/relationships/image" Target="../media/image-1-7.png"/><Relationship Id="rId11" Type="http://schemas.openxmlformats.org/officeDocument/2006/relationships/image" Target="../media/image-1-7.png"/><Relationship Id="rId12" Type="http://schemas.openxmlformats.org/officeDocument/2006/relationships/image" Target="../media/image-1-7.png"/><Relationship Id="rId13" Type="http://schemas.openxmlformats.org/officeDocument/2006/relationships/image" Target="../media/image-1-13.png"/><Relationship Id="rId14" Type="http://schemas.openxmlformats.org/officeDocument/2006/relationships/image" Target="../media/image-1-1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2.png"/><Relationship Id="rId24" Type="http://schemas.openxmlformats.org/officeDocument/2006/relationships/image" Target="../media/image-1-22.png"/><Relationship Id="rId25" Type="http://schemas.openxmlformats.org/officeDocument/2006/relationships/image" Target="../media/image-1-25.png"/><Relationship Id="rId26" Type="http://schemas.openxmlformats.org/officeDocument/2006/relationships/image" Target="../media/image-1-25.png"/><Relationship Id="rId27" Type="http://schemas.openxmlformats.org/officeDocument/2006/relationships/image" Target="../media/image-1-25.png"/><Relationship Id="rId28" Type="http://schemas.openxmlformats.org/officeDocument/2006/relationships/image" Target="../media/image-1-25.png"/><Relationship Id="rId29" Type="http://schemas.openxmlformats.org/officeDocument/2006/relationships/image" Target="../media/image-1-25.png"/><Relationship Id="rId30" Type="http://schemas.openxmlformats.org/officeDocument/2006/relationships/image" Target="../media/image-1-25.png"/><Relationship Id="rId31" Type="http://schemas.openxmlformats.org/officeDocument/2006/relationships/image" Target="../media/image-1-25.png"/><Relationship Id="rId32" Type="http://schemas.openxmlformats.org/officeDocument/2006/relationships/image" Target="../media/image-1-22.png"/><Relationship Id="rId33" Type="http://schemas.openxmlformats.org/officeDocument/2006/relationships/image" Target="../media/image-1-22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image" Target="../media/image-1-54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png"/><Relationship Id="rId64" Type="http://schemas.openxmlformats.org/officeDocument/2006/relationships/image" Target="../media/image-1-64.png"/><Relationship Id="rId65" Type="http://schemas.openxmlformats.org/officeDocument/2006/relationships/image" Target="../media/image-1-65.png"/><Relationship Id="rId66" Type="http://schemas.openxmlformats.org/officeDocument/2006/relationships/image" Target="../media/image-1-66.png"/><Relationship Id="rId67" Type="http://schemas.openxmlformats.org/officeDocument/2006/relationships/image" Target="../media/image-1-67.png"/><Relationship Id="rId68" Type="http://schemas.openxmlformats.org/officeDocument/2006/relationships/image" Target="../media/image-1-68.png"/><Relationship Id="rId69" Type="http://schemas.openxmlformats.org/officeDocument/2006/relationships/image" Target="../media/image-1-69.png"/><Relationship Id="rId70" Type="http://schemas.openxmlformats.org/officeDocument/2006/relationships/image" Target="../media/image-1-70.png"/><Relationship Id="rId71" Type="http://schemas.openxmlformats.org/officeDocument/2006/relationships/image" Target="../media/image-1-13.png"/><Relationship Id="rId72" Type="http://schemas.openxmlformats.org/officeDocument/2006/relationships/image" Target="../media/image-1-72.png"/><Relationship Id="rId73" Type="http://schemas.openxmlformats.org/officeDocument/2006/relationships/image" Target="../media/image-1-73.png"/><Relationship Id="rId74" Type="http://schemas.openxmlformats.org/officeDocument/2006/relationships/image" Target="../media/image-1-74.png"/><Relationship Id="rId75" Type="http://schemas.openxmlformats.org/officeDocument/2006/relationships/image" Target="../media/image-1-75.png"/><Relationship Id="rId76" Type="http://schemas.openxmlformats.org/officeDocument/2006/relationships/image" Target="../media/image-1-76.png"/><Relationship Id="rId77" Type="http://schemas.openxmlformats.org/officeDocument/2006/relationships/image" Target="../media/image-1-77.png"/><Relationship Id="rId78" Type="http://schemas.openxmlformats.org/officeDocument/2006/relationships/image" Target="../media/image-1-78.png"/><Relationship Id="rId79" Type="http://schemas.openxmlformats.org/officeDocument/2006/relationships/image" Target="../media/image-1-79.png"/><Relationship Id="rId80" Type="http://schemas.openxmlformats.org/officeDocument/2006/relationships/image" Target="../media/image-1-80.pn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AI-Powered CRM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365760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6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Harnessing + Semantic Layer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" y="64008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9FB3D9"/>
            </a:solidFill>
            <a:prstDash val="solid"/>
          </a:ln>
        </p:spPr>
      </p:sp>
      <p:pic>
        <p:nvPicPr>
          <p:cNvPr id="5" name="Image 0" descr="/home/claude/crm-deck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73152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13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19456" y="9875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0" i="1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(Natural Language Request)</a:t>
            </a:r>
            <a:endParaRPr lang="en-US" sz="670" dirty="0"/>
          </a:p>
        </p:txBody>
      </p:sp>
      <p:sp>
        <p:nvSpPr>
          <p:cNvPr id="8" name="Text 5"/>
          <p:cNvSpPr/>
          <p:nvPr/>
        </p:nvSpPr>
        <p:spPr>
          <a:xfrm>
            <a:off x="219456" y="11704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"Launch the best Galaxy Fold campaign in Korea"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874520" y="640080"/>
            <a:ext cx="6720840" cy="82296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9050">
            <a:solidFill>
              <a:srgbClr val="1B2A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74520" y="685800"/>
            <a:ext cx="6720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Orchestrator (Intent → Plan → Execute → Explain)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91156" y="932688"/>
            <a:ext cx="310896" cy="310896"/>
          </a:xfrm>
          <a:prstGeom prst="ellipse">
            <a:avLst/>
          </a:prstGeom>
          <a:solidFill>
            <a:srgbClr val="1B2A5B"/>
          </a:solidFill>
          <a:ln/>
        </p:spPr>
      </p:sp>
      <p:pic>
        <p:nvPicPr>
          <p:cNvPr id="12" name="Image 1" descr="/home/claude/crm-deck/icons/commen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98755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1952" y="1261872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660" dirty="0"/>
          </a:p>
        </p:txBody>
      </p:sp>
      <p:sp>
        <p:nvSpPr>
          <p:cNvPr id="14" name="Text 10"/>
          <p:cNvSpPr/>
          <p:nvPr/>
        </p:nvSpPr>
        <p:spPr>
          <a:xfrm>
            <a:off x="3090672" y="95097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735324" y="932688"/>
            <a:ext cx="310896" cy="310896"/>
          </a:xfrm>
          <a:prstGeom prst="ellipse">
            <a:avLst/>
          </a:prstGeom>
          <a:solidFill>
            <a:srgbClr val="1B2A5B"/>
          </a:solidFill>
          <a:ln/>
        </p:spPr>
      </p:sp>
      <p:pic>
        <p:nvPicPr>
          <p:cNvPr id="16" name="Image 2" descr="/home/claude/crm-deck/icons/clipboar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188" y="987552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46120" y="1261872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660" dirty="0"/>
          </a:p>
        </p:txBody>
      </p:sp>
      <p:sp>
        <p:nvSpPr>
          <p:cNvPr id="18" name="Text 13"/>
          <p:cNvSpPr/>
          <p:nvPr/>
        </p:nvSpPr>
        <p:spPr>
          <a:xfrm>
            <a:off x="4434840" y="95097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079492" y="932688"/>
            <a:ext cx="310896" cy="310896"/>
          </a:xfrm>
          <a:prstGeom prst="ellipse">
            <a:avLst/>
          </a:prstGeom>
          <a:solidFill>
            <a:srgbClr val="1B2A5B"/>
          </a:solidFill>
          <a:ln/>
        </p:spPr>
      </p:sp>
      <p:pic>
        <p:nvPicPr>
          <p:cNvPr id="20" name="Image 3" descr="/home/claude/crm-deck/icons/gear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356" y="98755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90288" y="1261872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660" dirty="0"/>
          </a:p>
        </p:txBody>
      </p:sp>
      <p:sp>
        <p:nvSpPr>
          <p:cNvPr id="22" name="Text 16"/>
          <p:cNvSpPr/>
          <p:nvPr/>
        </p:nvSpPr>
        <p:spPr>
          <a:xfrm>
            <a:off x="5779008" y="95097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423660" y="932688"/>
            <a:ext cx="310896" cy="310896"/>
          </a:xfrm>
          <a:prstGeom prst="ellipse">
            <a:avLst/>
          </a:prstGeom>
          <a:solidFill>
            <a:srgbClr val="1B2A5B"/>
          </a:solidFill>
          <a:ln/>
        </p:spPr>
      </p:sp>
      <p:pic>
        <p:nvPicPr>
          <p:cNvPr id="24" name="Image 4" descr="/home/claude/crm-deck/icons/wrench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524" y="987552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934456" y="1261872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Execution</a:t>
            </a:r>
            <a:endParaRPr lang="en-US" sz="660" dirty="0"/>
          </a:p>
        </p:txBody>
      </p:sp>
      <p:sp>
        <p:nvSpPr>
          <p:cNvPr id="26" name="Text 19"/>
          <p:cNvSpPr/>
          <p:nvPr/>
        </p:nvSpPr>
        <p:spPr>
          <a:xfrm>
            <a:off x="7123176" y="95097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7767828" y="932688"/>
            <a:ext cx="310896" cy="310896"/>
          </a:xfrm>
          <a:prstGeom prst="ellipse">
            <a:avLst/>
          </a:prstGeom>
          <a:solidFill>
            <a:srgbClr val="1B2A5B"/>
          </a:solidFill>
          <a:ln/>
        </p:spPr>
      </p:sp>
      <p:pic>
        <p:nvPicPr>
          <p:cNvPr id="28" name="Image 5" descr="/home/claude/crm-deck/icons/filelines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2692" y="987552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278624" y="1261872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Generation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Explanation</a:t>
            </a:r>
            <a:endParaRPr lang="en-US" sz="660" dirty="0"/>
          </a:p>
        </p:txBody>
      </p:sp>
      <p:sp>
        <p:nvSpPr>
          <p:cNvPr id="30" name="Shape 22"/>
          <p:cNvSpPr/>
          <p:nvPr/>
        </p:nvSpPr>
        <p:spPr>
          <a:xfrm>
            <a:off x="8759952" y="640080"/>
            <a:ext cx="331012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9FB3D9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8833104" y="67665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Campaign Recommendation</a:t>
            </a:r>
            <a:endParaRPr lang="en-US" sz="850" dirty="0"/>
          </a:p>
        </p:txBody>
      </p:sp>
      <p:pic>
        <p:nvPicPr>
          <p:cNvPr id="32" name="Image 6" descr="/home/claude/crm-deck/icons/check-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3104" y="877824"/>
            <a:ext cx="91440" cy="914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961120" y="850392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18,250 Customers</a:t>
            </a:r>
            <a:endParaRPr lang="en-US" sz="670" dirty="0"/>
          </a:p>
        </p:txBody>
      </p:sp>
      <p:pic>
        <p:nvPicPr>
          <p:cNvPr id="34" name="Image 7" descr="/home/claude/crm-deck/icons/check-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3104" y="973836"/>
            <a:ext cx="91440" cy="9144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961120" y="946404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Galaxy Fold Upgrade</a:t>
            </a:r>
            <a:endParaRPr lang="en-US" sz="670" dirty="0"/>
          </a:p>
        </p:txBody>
      </p:sp>
      <p:pic>
        <p:nvPicPr>
          <p:cNvPr id="36" name="Image 8" descr="/home/claude/crm-deck/icons/check-gre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3104" y="1069848"/>
            <a:ext cx="91440" cy="914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961120" y="1042416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Content</a:t>
            </a:r>
            <a:endParaRPr lang="en-US" sz="670" dirty="0"/>
          </a:p>
        </p:txBody>
      </p:sp>
      <p:pic>
        <p:nvPicPr>
          <p:cNvPr id="38" name="Image 9" descr="/home/claude/crm-deck/icons/check-gre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3104" y="1165860"/>
            <a:ext cx="91440" cy="9144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8961120" y="1138428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Image</a:t>
            </a:r>
            <a:endParaRPr lang="en-US" sz="670" dirty="0"/>
          </a:p>
        </p:txBody>
      </p:sp>
      <p:pic>
        <p:nvPicPr>
          <p:cNvPr id="40" name="Image 10" descr="/home/claude/crm-deck/icons/check-gre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3104" y="1261872"/>
            <a:ext cx="91440" cy="9144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8961120" y="1234440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CTR, Conversion</a:t>
            </a:r>
            <a:endParaRPr lang="en-US" sz="670" dirty="0"/>
          </a:p>
        </p:txBody>
      </p:sp>
      <p:pic>
        <p:nvPicPr>
          <p:cNvPr id="42" name="Image 11" descr="/home/claude/crm-deck/icons/check-gree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3104" y="1357884"/>
            <a:ext cx="91440" cy="9144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961120" y="1330452"/>
            <a:ext cx="2350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&amp; Explanation</a:t>
            </a:r>
            <a:endParaRPr lang="en-US" sz="670" dirty="0"/>
          </a:p>
        </p:txBody>
      </p:sp>
      <p:sp>
        <p:nvSpPr>
          <p:cNvPr id="44" name="Shape 30"/>
          <p:cNvSpPr/>
          <p:nvPr/>
        </p:nvSpPr>
        <p:spPr>
          <a:xfrm>
            <a:off x="11292840" y="859536"/>
            <a:ext cx="713232" cy="585216"/>
          </a:xfrm>
          <a:prstGeom prst="roundRect">
            <a:avLst>
              <a:gd name="adj" fmla="val 9375"/>
            </a:avLst>
          </a:prstGeom>
          <a:solidFill>
            <a:srgbClr val="1B2A5B"/>
          </a:solidFill>
          <a:ln/>
        </p:spPr>
      </p:sp>
      <p:sp>
        <p:nvSpPr>
          <p:cNvPr id="45" name="Text 31"/>
          <p:cNvSpPr/>
          <p:nvPr/>
        </p:nvSpPr>
        <p:spPr>
          <a:xfrm>
            <a:off x="11311128" y="89611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AI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here</a:t>
            </a:r>
            <a:endParaRPr lang="en-US" sz="650" dirty="0"/>
          </a:p>
        </p:txBody>
      </p:sp>
      <p:pic>
        <p:nvPicPr>
          <p:cNvPr id="46" name="Image 12" descr="/home/claude/crm-deck/icons/mobile-purple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03152" y="1152144"/>
            <a:ext cx="292608" cy="292608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1755648" y="996696"/>
            <a:ext cx="109728" cy="109728"/>
          </a:xfrm>
          <a:prstGeom prst="rightArrow">
            <a:avLst/>
          </a:prstGeom>
          <a:solidFill>
            <a:srgbClr val="1B2A5B"/>
          </a:solidFill>
          <a:ln/>
        </p:spPr>
      </p:sp>
      <p:sp>
        <p:nvSpPr>
          <p:cNvPr id="48" name="Shape 33"/>
          <p:cNvSpPr/>
          <p:nvPr/>
        </p:nvSpPr>
        <p:spPr>
          <a:xfrm>
            <a:off x="8613648" y="996696"/>
            <a:ext cx="128016" cy="109728"/>
          </a:xfrm>
          <a:prstGeom prst="rightArrow">
            <a:avLst/>
          </a:prstGeom>
          <a:solidFill>
            <a:srgbClr val="1B2A5B"/>
          </a:solidFill>
          <a:ln/>
        </p:spPr>
      </p:sp>
      <p:sp>
        <p:nvSpPr>
          <p:cNvPr id="49" name="Shape 34"/>
          <p:cNvSpPr/>
          <p:nvPr/>
        </p:nvSpPr>
        <p:spPr>
          <a:xfrm>
            <a:off x="137160" y="1536192"/>
            <a:ext cx="1600200" cy="432511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1B2A5B"/>
            </a:solidFill>
            <a:prstDash val="solid"/>
          </a:ln>
        </p:spPr>
      </p:sp>
      <p:sp>
        <p:nvSpPr>
          <p:cNvPr id="50" name="Shape 35"/>
          <p:cNvSpPr/>
          <p:nvPr/>
        </p:nvSpPr>
        <p:spPr>
          <a:xfrm>
            <a:off x="137160" y="1536192"/>
            <a:ext cx="1600200" cy="219456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51" name="Text 36"/>
          <p:cNvSpPr/>
          <p:nvPr/>
        </p:nvSpPr>
        <p:spPr>
          <a:xfrm>
            <a:off x="210312" y="153619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50" dirty="0"/>
          </a:p>
        </p:txBody>
      </p:sp>
      <p:pic>
        <p:nvPicPr>
          <p:cNvPr id="52" name="Image 13" descr="/home/claude/crm-deck/icons/use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0312" y="1828800"/>
            <a:ext cx="128016" cy="128016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384048" y="181051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Account</a:t>
            </a:r>
            <a:endParaRPr lang="en-US" sz="690" dirty="0"/>
          </a:p>
        </p:txBody>
      </p:sp>
      <p:sp>
        <p:nvSpPr>
          <p:cNvPr id="54" name="Text 38"/>
          <p:cNvSpPr/>
          <p:nvPr/>
        </p:nvSpPr>
        <p:spPr>
          <a:xfrm>
            <a:off x="228600" y="195224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Profile, Demographics</a:t>
            </a:r>
            <a:endParaRPr lang="en-US" sz="590" dirty="0"/>
          </a:p>
        </p:txBody>
      </p:sp>
      <p:sp>
        <p:nvSpPr>
          <p:cNvPr id="55" name="Text 39"/>
          <p:cNvSpPr/>
          <p:nvPr/>
        </p:nvSpPr>
        <p:spPr>
          <a:xfrm>
            <a:off x="228600" y="2050999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Registered Devices</a:t>
            </a:r>
            <a:endParaRPr lang="en-US" sz="590" dirty="0"/>
          </a:p>
        </p:txBody>
      </p:sp>
      <p:sp>
        <p:nvSpPr>
          <p:cNvPr id="56" name="Text 40"/>
          <p:cNvSpPr/>
          <p:nvPr/>
        </p:nvSpPr>
        <p:spPr>
          <a:xfrm>
            <a:off x="228600" y="214975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Preferences</a:t>
            </a:r>
            <a:endParaRPr lang="en-US" sz="590" dirty="0"/>
          </a:p>
        </p:txBody>
      </p:sp>
      <p:pic>
        <p:nvPicPr>
          <p:cNvPr id="57" name="Image 14" descr="/home/claude/crm-deck/icons/car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0312" y="2303374"/>
            <a:ext cx="128016" cy="128016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384048" y="228508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eStore</a:t>
            </a:r>
            <a:endParaRPr lang="en-US" sz="690" dirty="0"/>
          </a:p>
        </p:txBody>
      </p:sp>
      <p:sp>
        <p:nvSpPr>
          <p:cNvPr id="59" name="Text 42"/>
          <p:cNvSpPr/>
          <p:nvPr/>
        </p:nvSpPr>
        <p:spPr>
          <a:xfrm>
            <a:off x="228600" y="242681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Orders, Products</a:t>
            </a:r>
            <a:endParaRPr lang="en-US" sz="590" dirty="0"/>
          </a:p>
        </p:txBody>
      </p:sp>
      <p:sp>
        <p:nvSpPr>
          <p:cNvPr id="60" name="Text 43"/>
          <p:cNvSpPr/>
          <p:nvPr/>
        </p:nvSpPr>
        <p:spPr>
          <a:xfrm>
            <a:off x="228600" y="2525573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Carts, Wishlist</a:t>
            </a:r>
            <a:endParaRPr lang="en-US" sz="590" dirty="0"/>
          </a:p>
        </p:txBody>
      </p:sp>
      <p:sp>
        <p:nvSpPr>
          <p:cNvPr id="61" name="Text 44"/>
          <p:cNvSpPr/>
          <p:nvPr/>
        </p:nvSpPr>
        <p:spPr>
          <a:xfrm>
            <a:off x="228600" y="262432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Payments, Returns</a:t>
            </a:r>
            <a:endParaRPr lang="en-US" sz="590" dirty="0"/>
          </a:p>
        </p:txBody>
      </p:sp>
      <p:pic>
        <p:nvPicPr>
          <p:cNvPr id="62" name="Image 15" descr="/home/claude/crm-deck/icons/envelop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0312" y="2777947"/>
            <a:ext cx="128016" cy="128016"/>
          </a:xfrm>
          <a:prstGeom prst="rect">
            <a:avLst/>
          </a:prstGeom>
        </p:spPr>
      </p:pic>
      <p:sp>
        <p:nvSpPr>
          <p:cNvPr id="63" name="Text 45"/>
          <p:cNvSpPr/>
          <p:nvPr/>
        </p:nvSpPr>
        <p:spPr>
          <a:xfrm>
            <a:off x="384048" y="2759659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Campaign Data</a:t>
            </a:r>
            <a:endParaRPr lang="en-US" sz="690" dirty="0"/>
          </a:p>
        </p:txBody>
      </p:sp>
      <p:sp>
        <p:nvSpPr>
          <p:cNvPr id="64" name="Text 46"/>
          <p:cNvSpPr/>
          <p:nvPr/>
        </p:nvSpPr>
        <p:spPr>
          <a:xfrm>
            <a:off x="228600" y="2901391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Email, SMS, Push</a:t>
            </a:r>
            <a:endParaRPr lang="en-US" sz="590" dirty="0"/>
          </a:p>
        </p:txBody>
      </p:sp>
      <p:sp>
        <p:nvSpPr>
          <p:cNvPr id="65" name="Text 47"/>
          <p:cNvSpPr/>
          <p:nvPr/>
        </p:nvSpPr>
        <p:spPr>
          <a:xfrm>
            <a:off x="228600" y="300014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Campaign History</a:t>
            </a:r>
            <a:endParaRPr lang="en-US" sz="590" dirty="0"/>
          </a:p>
        </p:txBody>
      </p:sp>
      <p:sp>
        <p:nvSpPr>
          <p:cNvPr id="66" name="Text 48"/>
          <p:cNvSpPr/>
          <p:nvPr/>
        </p:nvSpPr>
        <p:spPr>
          <a:xfrm>
            <a:off x="228600" y="309890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Opens, Clicks, Conversions</a:t>
            </a:r>
            <a:endParaRPr lang="en-US" sz="590" dirty="0"/>
          </a:p>
        </p:txBody>
      </p:sp>
      <p:pic>
        <p:nvPicPr>
          <p:cNvPr id="67" name="Image 16" descr="/home/claude/crm-deck/icons/chartba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0312" y="3252521"/>
            <a:ext cx="128016" cy="128016"/>
          </a:xfrm>
          <a:prstGeom prst="rect">
            <a:avLst/>
          </a:prstGeom>
        </p:spPr>
      </p:pic>
      <p:sp>
        <p:nvSpPr>
          <p:cNvPr id="68" name="Text 49"/>
          <p:cNvSpPr/>
          <p:nvPr/>
        </p:nvSpPr>
        <p:spPr>
          <a:xfrm>
            <a:off x="384048" y="3234233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App Analytics</a:t>
            </a:r>
            <a:endParaRPr lang="en-US" sz="690" dirty="0"/>
          </a:p>
        </p:txBody>
      </p:sp>
      <p:sp>
        <p:nvSpPr>
          <p:cNvPr id="69" name="Text 50"/>
          <p:cNvSpPr/>
          <p:nvPr/>
        </p:nvSpPr>
        <p:spPr>
          <a:xfrm>
            <a:off x="228600" y="3375965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 Views, Searches</a:t>
            </a:r>
            <a:endParaRPr lang="en-US" sz="590" dirty="0"/>
          </a:p>
        </p:txBody>
      </p:sp>
      <p:sp>
        <p:nvSpPr>
          <p:cNvPr id="70" name="Text 51"/>
          <p:cNvSpPr/>
          <p:nvPr/>
        </p:nvSpPr>
        <p:spPr>
          <a:xfrm>
            <a:off x="228600" y="347472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Views</a:t>
            </a:r>
            <a:endParaRPr lang="en-US" sz="590" dirty="0"/>
          </a:p>
        </p:txBody>
      </p:sp>
      <p:sp>
        <p:nvSpPr>
          <p:cNvPr id="71" name="Text 52"/>
          <p:cNvSpPr/>
          <p:nvPr/>
        </p:nvSpPr>
        <p:spPr>
          <a:xfrm>
            <a:off x="228600" y="3573475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Behavior</a:t>
            </a:r>
            <a:endParaRPr lang="en-US" sz="590" dirty="0"/>
          </a:p>
        </p:txBody>
      </p:sp>
      <p:pic>
        <p:nvPicPr>
          <p:cNvPr id="72" name="Image 17" descr="/home/claude/crm-deck/icons/headse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0312" y="3727094"/>
            <a:ext cx="128016" cy="128016"/>
          </a:xfrm>
          <a:prstGeom prst="rect">
            <a:avLst/>
          </a:prstGeom>
        </p:spPr>
      </p:pic>
      <p:sp>
        <p:nvSpPr>
          <p:cNvPr id="73" name="Text 53"/>
          <p:cNvSpPr/>
          <p:nvPr/>
        </p:nvSpPr>
        <p:spPr>
          <a:xfrm>
            <a:off x="384048" y="370880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690" dirty="0"/>
          </a:p>
        </p:txBody>
      </p:sp>
      <p:sp>
        <p:nvSpPr>
          <p:cNvPr id="74" name="Text 54"/>
          <p:cNvSpPr/>
          <p:nvPr/>
        </p:nvSpPr>
        <p:spPr>
          <a:xfrm>
            <a:off x="228600" y="385053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Tickets, Interactions</a:t>
            </a:r>
            <a:endParaRPr lang="en-US" sz="590" dirty="0"/>
          </a:p>
        </p:txBody>
      </p:sp>
      <p:sp>
        <p:nvSpPr>
          <p:cNvPr id="75" name="Text 55"/>
          <p:cNvSpPr/>
          <p:nvPr/>
        </p:nvSpPr>
        <p:spPr>
          <a:xfrm>
            <a:off x="228600" y="394929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Satisfaction, NPS</a:t>
            </a:r>
            <a:endParaRPr lang="en-US" sz="590" dirty="0"/>
          </a:p>
        </p:txBody>
      </p:sp>
      <p:pic>
        <p:nvPicPr>
          <p:cNvPr id="76" name="Image 18" descr="/home/claude/crm-deck/icons/sta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0312" y="4102913"/>
            <a:ext cx="128016" cy="128016"/>
          </a:xfrm>
          <a:prstGeom prst="rect">
            <a:avLst/>
          </a:prstGeom>
        </p:spPr>
      </p:pic>
      <p:sp>
        <p:nvSpPr>
          <p:cNvPr id="77" name="Text 56"/>
          <p:cNvSpPr/>
          <p:nvPr/>
        </p:nvSpPr>
        <p:spPr>
          <a:xfrm>
            <a:off x="384048" y="4084625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690" dirty="0"/>
          </a:p>
        </p:txBody>
      </p:sp>
      <p:sp>
        <p:nvSpPr>
          <p:cNvPr id="78" name="Text 57"/>
          <p:cNvSpPr/>
          <p:nvPr/>
        </p:nvSpPr>
        <p:spPr>
          <a:xfrm>
            <a:off x="228600" y="4226357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Best Product</a:t>
            </a:r>
            <a:endParaRPr lang="en-US" sz="590" dirty="0"/>
          </a:p>
        </p:txBody>
      </p:sp>
      <p:sp>
        <p:nvSpPr>
          <p:cNvPr id="79" name="Text 58"/>
          <p:cNvSpPr/>
          <p:nvPr/>
        </p:nvSpPr>
        <p:spPr>
          <a:xfrm>
            <a:off x="228600" y="432511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 Score</a:t>
            </a:r>
            <a:endParaRPr lang="en-US" sz="590" dirty="0"/>
          </a:p>
        </p:txBody>
      </p:sp>
      <p:sp>
        <p:nvSpPr>
          <p:cNvPr id="80" name="Text 59"/>
          <p:cNvSpPr/>
          <p:nvPr/>
        </p:nvSpPr>
        <p:spPr>
          <a:xfrm>
            <a:off x="228600" y="4423867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Affinity</a:t>
            </a:r>
            <a:endParaRPr lang="en-US" sz="590" dirty="0"/>
          </a:p>
        </p:txBody>
      </p:sp>
      <p:pic>
        <p:nvPicPr>
          <p:cNvPr id="81" name="Image 19" descr="/home/claude/crm-deck/icons/databas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0312" y="4577486"/>
            <a:ext cx="128016" cy="128016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384048" y="455919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690" dirty="0"/>
          </a:p>
        </p:txBody>
      </p:sp>
      <p:sp>
        <p:nvSpPr>
          <p:cNvPr id="83" name="Text 61"/>
          <p:cNvSpPr/>
          <p:nvPr/>
        </p:nvSpPr>
        <p:spPr>
          <a:xfrm>
            <a:off x="228600" y="470093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CLV, Churn Prob.</a:t>
            </a:r>
            <a:endParaRPr lang="en-US" sz="590" dirty="0"/>
          </a:p>
        </p:txBody>
      </p:sp>
      <p:sp>
        <p:nvSpPr>
          <p:cNvPr id="84" name="Text 62"/>
          <p:cNvSpPr/>
          <p:nvPr/>
        </p:nvSpPr>
        <p:spPr>
          <a:xfrm>
            <a:off x="228600" y="479968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Upgrade Propensity</a:t>
            </a:r>
            <a:endParaRPr lang="en-US" sz="590" dirty="0"/>
          </a:p>
        </p:txBody>
      </p:sp>
      <p:sp>
        <p:nvSpPr>
          <p:cNvPr id="85" name="Text 63"/>
          <p:cNvSpPr/>
          <p:nvPr/>
        </p:nvSpPr>
        <p:spPr>
          <a:xfrm>
            <a:off x="228600" y="4898441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CTR, Recency</a:t>
            </a:r>
            <a:endParaRPr lang="en-US" sz="590" dirty="0"/>
          </a:p>
        </p:txBody>
      </p:sp>
      <p:sp>
        <p:nvSpPr>
          <p:cNvPr id="86" name="Text 64"/>
          <p:cNvSpPr/>
          <p:nvPr/>
        </p:nvSpPr>
        <p:spPr>
          <a:xfrm>
            <a:off x="228600" y="499719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 Frequency</a:t>
            </a:r>
            <a:endParaRPr lang="en-US" sz="590" dirty="0"/>
          </a:p>
        </p:txBody>
      </p:sp>
      <p:sp>
        <p:nvSpPr>
          <p:cNvPr id="87" name="Shape 65"/>
          <p:cNvSpPr/>
          <p:nvPr/>
        </p:nvSpPr>
        <p:spPr>
          <a:xfrm>
            <a:off x="1874520" y="1536192"/>
            <a:ext cx="1371600" cy="2331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1B2A5B"/>
            </a:solidFill>
            <a:prstDash val="solid"/>
          </a:ln>
        </p:spPr>
      </p:sp>
      <p:sp>
        <p:nvSpPr>
          <p:cNvPr id="88" name="Shape 66"/>
          <p:cNvSpPr/>
          <p:nvPr/>
        </p:nvSpPr>
        <p:spPr>
          <a:xfrm>
            <a:off x="1874520" y="1536192"/>
            <a:ext cx="1371600" cy="219456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89" name="Text 67"/>
          <p:cNvSpPr/>
          <p:nvPr/>
        </p:nvSpPr>
        <p:spPr>
          <a:xfrm>
            <a:off x="1947672" y="153619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950" dirty="0"/>
          </a:p>
        </p:txBody>
      </p:sp>
      <p:sp>
        <p:nvSpPr>
          <p:cNvPr id="90" name="Shape 68"/>
          <p:cNvSpPr/>
          <p:nvPr/>
        </p:nvSpPr>
        <p:spPr>
          <a:xfrm>
            <a:off x="1947672" y="1810512"/>
            <a:ext cx="1225296" cy="384048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 w="9525">
            <a:solidFill>
              <a:srgbClr val="9FB3D9"/>
            </a:solidFill>
            <a:prstDash val="solid"/>
          </a:ln>
        </p:spPr>
      </p:sp>
      <p:pic>
        <p:nvPicPr>
          <p:cNvPr id="91" name="Image 20" descr="/home/claude/crm-deck/icons/rotat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02536" y="1874520"/>
            <a:ext cx="146304" cy="146304"/>
          </a:xfrm>
          <a:prstGeom prst="rect">
            <a:avLst/>
          </a:prstGeom>
        </p:spPr>
      </p:pic>
      <p:sp>
        <p:nvSpPr>
          <p:cNvPr id="92" name="Text 69"/>
          <p:cNvSpPr/>
          <p:nvPr/>
        </p:nvSpPr>
        <p:spPr>
          <a:xfrm>
            <a:off x="2194560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660" dirty="0"/>
          </a:p>
        </p:txBody>
      </p:sp>
      <p:sp>
        <p:nvSpPr>
          <p:cNvPr id="93" name="Text 70"/>
          <p:cNvSpPr/>
          <p:nvPr/>
        </p:nvSpPr>
        <p:spPr>
          <a:xfrm>
            <a:off x="2194560" y="19933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(Streaming / Batch)</a:t>
            </a:r>
            <a:endParaRPr lang="en-US" sz="570" dirty="0"/>
          </a:p>
        </p:txBody>
      </p:sp>
      <p:sp>
        <p:nvSpPr>
          <p:cNvPr id="94" name="Text 71"/>
          <p:cNvSpPr/>
          <p:nvPr/>
        </p:nvSpPr>
        <p:spPr>
          <a:xfrm>
            <a:off x="2505456" y="2194560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95" name="Shape 72"/>
          <p:cNvSpPr/>
          <p:nvPr/>
        </p:nvSpPr>
        <p:spPr>
          <a:xfrm>
            <a:off x="1947672" y="2276856"/>
            <a:ext cx="1225296" cy="384048"/>
          </a:xfrm>
          <a:prstGeom prst="roundRect">
            <a:avLst>
              <a:gd name="adj" fmla="val 9524"/>
            </a:avLst>
          </a:prstGeom>
          <a:solidFill>
            <a:srgbClr val="F0E4D8"/>
          </a:solidFill>
          <a:ln w="9525">
            <a:solidFill>
              <a:srgbClr val="9FB3D9"/>
            </a:solidFill>
            <a:prstDash val="solid"/>
          </a:ln>
        </p:spPr>
      </p:sp>
      <p:pic>
        <p:nvPicPr>
          <p:cNvPr id="96" name="Image 21" descr="/home/claude/crm-deck/icons/database-nav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02536" y="2340864"/>
            <a:ext cx="146304" cy="146304"/>
          </a:xfrm>
          <a:prstGeom prst="rect">
            <a:avLst/>
          </a:prstGeom>
        </p:spPr>
      </p:pic>
      <p:sp>
        <p:nvSpPr>
          <p:cNvPr id="97" name="Text 73"/>
          <p:cNvSpPr/>
          <p:nvPr/>
        </p:nvSpPr>
        <p:spPr>
          <a:xfrm>
            <a:off x="2194560" y="231343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</a:t>
            </a:r>
            <a:endParaRPr lang="en-US" sz="660" dirty="0"/>
          </a:p>
        </p:txBody>
      </p:sp>
      <p:sp>
        <p:nvSpPr>
          <p:cNvPr id="98" name="Text 74"/>
          <p:cNvSpPr/>
          <p:nvPr/>
        </p:nvSpPr>
        <p:spPr>
          <a:xfrm>
            <a:off x="2194560" y="24597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(Bronze)</a:t>
            </a:r>
            <a:endParaRPr lang="en-US" sz="570" dirty="0"/>
          </a:p>
        </p:txBody>
      </p:sp>
      <p:sp>
        <p:nvSpPr>
          <p:cNvPr id="99" name="Text 75"/>
          <p:cNvSpPr/>
          <p:nvPr/>
        </p:nvSpPr>
        <p:spPr>
          <a:xfrm>
            <a:off x="2505456" y="266090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100" name="Shape 76"/>
          <p:cNvSpPr/>
          <p:nvPr/>
        </p:nvSpPr>
        <p:spPr>
          <a:xfrm>
            <a:off x="1947672" y="2743200"/>
            <a:ext cx="1225296" cy="384048"/>
          </a:xfrm>
          <a:prstGeom prst="roundRect">
            <a:avLst>
              <a:gd name="adj" fmla="val 9524"/>
            </a:avLst>
          </a:prstGeom>
          <a:solidFill>
            <a:srgbClr val="E9EBEE"/>
          </a:solidFill>
          <a:ln w="9525">
            <a:solidFill>
              <a:srgbClr val="9FB3D9"/>
            </a:solidFill>
            <a:prstDash val="solid"/>
          </a:ln>
        </p:spPr>
      </p:sp>
      <p:pic>
        <p:nvPicPr>
          <p:cNvPr id="101" name="Image 22" descr="/home/claude/crm-deck/icons/database-navy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02536" y="2807208"/>
            <a:ext cx="146304" cy="146304"/>
          </a:xfrm>
          <a:prstGeom prst="rect">
            <a:avLst/>
          </a:prstGeom>
        </p:spPr>
      </p:pic>
      <p:sp>
        <p:nvSpPr>
          <p:cNvPr id="102" name="Text 77"/>
          <p:cNvSpPr/>
          <p:nvPr/>
        </p:nvSpPr>
        <p:spPr>
          <a:xfrm>
            <a:off x="2194560" y="27797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 Layer</a:t>
            </a:r>
            <a:endParaRPr lang="en-US" sz="660" dirty="0"/>
          </a:p>
        </p:txBody>
      </p:sp>
      <p:sp>
        <p:nvSpPr>
          <p:cNvPr id="103" name="Text 78"/>
          <p:cNvSpPr/>
          <p:nvPr/>
        </p:nvSpPr>
        <p:spPr>
          <a:xfrm>
            <a:off x="2194560" y="292608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(Silver)</a:t>
            </a:r>
            <a:endParaRPr lang="en-US" sz="570" dirty="0"/>
          </a:p>
        </p:txBody>
      </p:sp>
      <p:sp>
        <p:nvSpPr>
          <p:cNvPr id="104" name="Shape 79"/>
          <p:cNvSpPr/>
          <p:nvPr/>
        </p:nvSpPr>
        <p:spPr>
          <a:xfrm>
            <a:off x="1947672" y="3209544"/>
            <a:ext cx="1225296" cy="685800"/>
          </a:xfrm>
          <a:prstGeom prst="roundRect">
            <a:avLst>
              <a:gd name="adj" fmla="val 8000"/>
            </a:avLst>
          </a:prstGeom>
          <a:solidFill>
            <a:srgbClr val="FBE7A1"/>
          </a:solidFill>
          <a:ln w="12700">
            <a:solidFill>
              <a:srgbClr val="C9971F"/>
            </a:solidFill>
            <a:prstDash val="solid"/>
          </a:ln>
        </p:spPr>
      </p:sp>
      <p:pic>
        <p:nvPicPr>
          <p:cNvPr id="105" name="Image 23" descr="/home/claude/crm-deck/icons/database-navy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02536" y="3264408"/>
            <a:ext cx="164592" cy="164592"/>
          </a:xfrm>
          <a:prstGeom prst="rect">
            <a:avLst/>
          </a:prstGeom>
        </p:spPr>
      </p:pic>
      <p:sp>
        <p:nvSpPr>
          <p:cNvPr id="106" name="Text 80"/>
          <p:cNvSpPr/>
          <p:nvPr/>
        </p:nvSpPr>
        <p:spPr>
          <a:xfrm>
            <a:off x="2194560" y="324612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Customer 360</a:t>
            </a:r>
            <a:endParaRPr lang="en-US" sz="660" dirty="0"/>
          </a:p>
        </p:txBody>
      </p:sp>
      <p:sp>
        <p:nvSpPr>
          <p:cNvPr id="107" name="Text 81"/>
          <p:cNvSpPr/>
          <p:nvPr/>
        </p:nvSpPr>
        <p:spPr>
          <a:xfrm>
            <a:off x="2002536" y="342900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(Gold)</a:t>
            </a:r>
            <a:endParaRPr lang="en-US" sz="600" dirty="0"/>
          </a:p>
        </p:txBody>
      </p:sp>
      <p:sp>
        <p:nvSpPr>
          <p:cNvPr id="108" name="Text 82"/>
          <p:cNvSpPr/>
          <p:nvPr/>
        </p:nvSpPr>
        <p:spPr>
          <a:xfrm>
            <a:off x="2002536" y="357530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trusted, curated view of customer across all touchpoints</a:t>
            </a:r>
            <a:endParaRPr lang="en-US" sz="580" dirty="0"/>
          </a:p>
        </p:txBody>
      </p:sp>
      <p:sp>
        <p:nvSpPr>
          <p:cNvPr id="109" name="Shape 83"/>
          <p:cNvSpPr/>
          <p:nvPr/>
        </p:nvSpPr>
        <p:spPr>
          <a:xfrm>
            <a:off x="3364992" y="1536192"/>
            <a:ext cx="2331720" cy="2331720"/>
          </a:xfrm>
          <a:prstGeom prst="roundRect">
            <a:avLst>
              <a:gd name="adj" fmla="val 1961"/>
            </a:avLst>
          </a:prstGeom>
          <a:solidFill>
            <a:srgbClr val="EAF6EC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10" name="Shape 84"/>
          <p:cNvSpPr/>
          <p:nvPr/>
        </p:nvSpPr>
        <p:spPr>
          <a:xfrm>
            <a:off x="3364992" y="1536192"/>
            <a:ext cx="2331720" cy="21945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1" name="Text 85"/>
          <p:cNvSpPr/>
          <p:nvPr/>
        </p:nvSpPr>
        <p:spPr>
          <a:xfrm>
            <a:off x="3438144" y="1536192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(Business Knowledge)</a:t>
            </a:r>
            <a:endParaRPr lang="en-US" sz="950" dirty="0"/>
          </a:p>
        </p:txBody>
      </p:sp>
      <p:sp>
        <p:nvSpPr>
          <p:cNvPr id="112" name="Text 86"/>
          <p:cNvSpPr/>
          <p:nvPr/>
        </p:nvSpPr>
        <p:spPr>
          <a:xfrm>
            <a:off x="3438144" y="1810512"/>
            <a:ext cx="10927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660" dirty="0"/>
          </a:p>
        </p:txBody>
      </p:sp>
      <p:sp>
        <p:nvSpPr>
          <p:cNvPr id="113" name="Text 87"/>
          <p:cNvSpPr/>
          <p:nvPr/>
        </p:nvSpPr>
        <p:spPr>
          <a:xfrm>
            <a:off x="3438144" y="1956816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</a:t>
            </a:r>
            <a:endParaRPr lang="en-US" sz="510" dirty="0"/>
          </a:p>
        </p:txBody>
      </p:sp>
      <p:sp>
        <p:nvSpPr>
          <p:cNvPr id="114" name="Text 88"/>
          <p:cNvSpPr/>
          <p:nvPr/>
        </p:nvSpPr>
        <p:spPr>
          <a:xfrm>
            <a:off x="3438144" y="2055571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</a:t>
            </a:r>
            <a:endParaRPr lang="en-US" sz="510" dirty="0"/>
          </a:p>
        </p:txBody>
      </p:sp>
      <p:sp>
        <p:nvSpPr>
          <p:cNvPr id="115" name="Text 89"/>
          <p:cNvSpPr/>
          <p:nvPr/>
        </p:nvSpPr>
        <p:spPr>
          <a:xfrm>
            <a:off x="3438144" y="2154326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Campaign</a:t>
            </a:r>
            <a:endParaRPr lang="en-US" sz="510" dirty="0"/>
          </a:p>
        </p:txBody>
      </p:sp>
      <p:sp>
        <p:nvSpPr>
          <p:cNvPr id="116" name="Text 90"/>
          <p:cNvSpPr/>
          <p:nvPr/>
        </p:nvSpPr>
        <p:spPr>
          <a:xfrm>
            <a:off x="3438144" y="2253082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</a:t>
            </a:r>
            <a:endParaRPr lang="en-US" sz="510" dirty="0"/>
          </a:p>
        </p:txBody>
      </p:sp>
      <p:sp>
        <p:nvSpPr>
          <p:cNvPr id="117" name="Text 91"/>
          <p:cNvSpPr/>
          <p:nvPr/>
        </p:nvSpPr>
        <p:spPr>
          <a:xfrm>
            <a:off x="3438144" y="2351837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Device</a:t>
            </a:r>
            <a:endParaRPr lang="en-US" sz="510" dirty="0"/>
          </a:p>
        </p:txBody>
      </p:sp>
      <p:sp>
        <p:nvSpPr>
          <p:cNvPr id="118" name="Text 92"/>
          <p:cNvSpPr/>
          <p:nvPr/>
        </p:nvSpPr>
        <p:spPr>
          <a:xfrm>
            <a:off x="3438144" y="2450592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</a:t>
            </a:r>
            <a:endParaRPr lang="en-US" sz="510" dirty="0"/>
          </a:p>
        </p:txBody>
      </p:sp>
      <p:sp>
        <p:nvSpPr>
          <p:cNvPr id="119" name="Text 93"/>
          <p:cNvSpPr/>
          <p:nvPr/>
        </p:nvSpPr>
        <p:spPr>
          <a:xfrm>
            <a:off x="4530852" y="1810512"/>
            <a:ext cx="10927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660" dirty="0"/>
          </a:p>
        </p:txBody>
      </p:sp>
      <p:sp>
        <p:nvSpPr>
          <p:cNvPr id="120" name="Text 94"/>
          <p:cNvSpPr/>
          <p:nvPr/>
        </p:nvSpPr>
        <p:spPr>
          <a:xfrm>
            <a:off x="4530852" y="1956816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Lifetime Value (CLV)</a:t>
            </a:r>
            <a:endParaRPr lang="en-US" sz="510" dirty="0"/>
          </a:p>
        </p:txBody>
      </p:sp>
      <p:sp>
        <p:nvSpPr>
          <p:cNvPr id="121" name="Text 95"/>
          <p:cNvSpPr/>
          <p:nvPr/>
        </p:nvSpPr>
        <p:spPr>
          <a:xfrm>
            <a:off x="4530852" y="2148840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Upgrade Propensity</a:t>
            </a:r>
            <a:endParaRPr lang="en-US" sz="510" dirty="0"/>
          </a:p>
        </p:txBody>
      </p:sp>
      <p:sp>
        <p:nvSpPr>
          <p:cNvPr id="122" name="Text 96"/>
          <p:cNvSpPr/>
          <p:nvPr/>
        </p:nvSpPr>
        <p:spPr>
          <a:xfrm>
            <a:off x="4530852" y="2247595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 Score</a:t>
            </a:r>
            <a:endParaRPr lang="en-US" sz="510" dirty="0"/>
          </a:p>
        </p:txBody>
      </p:sp>
      <p:sp>
        <p:nvSpPr>
          <p:cNvPr id="123" name="Text 97"/>
          <p:cNvSpPr/>
          <p:nvPr/>
        </p:nvSpPr>
        <p:spPr>
          <a:xfrm>
            <a:off x="4530852" y="2346350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CTR</a:t>
            </a:r>
            <a:endParaRPr lang="en-US" sz="510" dirty="0"/>
          </a:p>
        </p:txBody>
      </p:sp>
      <p:sp>
        <p:nvSpPr>
          <p:cNvPr id="124" name="Text 98"/>
          <p:cNvSpPr/>
          <p:nvPr/>
        </p:nvSpPr>
        <p:spPr>
          <a:xfrm>
            <a:off x="4530852" y="2445106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Campaign Conversion Rate</a:t>
            </a:r>
            <a:endParaRPr lang="en-US" sz="510" dirty="0"/>
          </a:p>
        </p:txBody>
      </p:sp>
      <p:sp>
        <p:nvSpPr>
          <p:cNvPr id="125" name="Text 99"/>
          <p:cNvSpPr/>
          <p:nvPr/>
        </p:nvSpPr>
        <p:spPr>
          <a:xfrm>
            <a:off x="4530852" y="2543861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Revenue, AOV, Repeat Rate</a:t>
            </a:r>
            <a:endParaRPr lang="en-US" sz="510" dirty="0"/>
          </a:p>
        </p:txBody>
      </p:sp>
      <p:sp>
        <p:nvSpPr>
          <p:cNvPr id="126" name="Text 100"/>
          <p:cNvSpPr/>
          <p:nvPr/>
        </p:nvSpPr>
        <p:spPr>
          <a:xfrm>
            <a:off x="3438144" y="2839212"/>
            <a:ext cx="10927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660" dirty="0"/>
          </a:p>
        </p:txBody>
      </p:sp>
      <p:sp>
        <p:nvSpPr>
          <p:cNvPr id="127" name="Text 101"/>
          <p:cNvSpPr/>
          <p:nvPr/>
        </p:nvSpPr>
        <p:spPr>
          <a:xfrm>
            <a:off x="3438144" y="2985516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Country, Region</a:t>
            </a:r>
            <a:endParaRPr lang="en-US" sz="510" dirty="0"/>
          </a:p>
        </p:txBody>
      </p:sp>
      <p:sp>
        <p:nvSpPr>
          <p:cNvPr id="128" name="Text 102"/>
          <p:cNvSpPr/>
          <p:nvPr/>
        </p:nvSpPr>
        <p:spPr>
          <a:xfrm>
            <a:off x="3438144" y="3084271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Group</a:t>
            </a:r>
            <a:endParaRPr lang="en-US" sz="510" dirty="0"/>
          </a:p>
        </p:txBody>
      </p:sp>
      <p:sp>
        <p:nvSpPr>
          <p:cNvPr id="129" name="Text 103"/>
          <p:cNvSpPr/>
          <p:nvPr/>
        </p:nvSpPr>
        <p:spPr>
          <a:xfrm>
            <a:off x="3438144" y="3183026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Device Family</a:t>
            </a:r>
            <a:endParaRPr lang="en-US" sz="510" dirty="0"/>
          </a:p>
        </p:txBody>
      </p:sp>
      <p:sp>
        <p:nvSpPr>
          <p:cNvPr id="130" name="Text 104"/>
          <p:cNvSpPr/>
          <p:nvPr/>
        </p:nvSpPr>
        <p:spPr>
          <a:xfrm>
            <a:off x="3438144" y="3281782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Category</a:t>
            </a:r>
            <a:endParaRPr lang="en-US" sz="510" dirty="0"/>
          </a:p>
        </p:txBody>
      </p:sp>
      <p:sp>
        <p:nvSpPr>
          <p:cNvPr id="131" name="Text 105"/>
          <p:cNvSpPr/>
          <p:nvPr/>
        </p:nvSpPr>
        <p:spPr>
          <a:xfrm>
            <a:off x="3438144" y="3380537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Segment</a:t>
            </a:r>
            <a:endParaRPr lang="en-US" sz="510" dirty="0"/>
          </a:p>
        </p:txBody>
      </p:sp>
      <p:sp>
        <p:nvSpPr>
          <p:cNvPr id="132" name="Text 106"/>
          <p:cNvSpPr/>
          <p:nvPr/>
        </p:nvSpPr>
        <p:spPr>
          <a:xfrm>
            <a:off x="3438144" y="3479292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Campaign Type</a:t>
            </a:r>
            <a:endParaRPr lang="en-US" sz="510" dirty="0"/>
          </a:p>
        </p:txBody>
      </p:sp>
      <p:sp>
        <p:nvSpPr>
          <p:cNvPr id="133" name="Text 107"/>
          <p:cNvSpPr/>
          <p:nvPr/>
        </p:nvSpPr>
        <p:spPr>
          <a:xfrm>
            <a:off x="4530852" y="2839212"/>
            <a:ext cx="10927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660" dirty="0"/>
          </a:p>
        </p:txBody>
      </p:sp>
      <p:sp>
        <p:nvSpPr>
          <p:cNvPr id="134" name="Text 108"/>
          <p:cNvSpPr/>
          <p:nvPr/>
        </p:nvSpPr>
        <p:spPr>
          <a:xfrm>
            <a:off x="4530852" y="2985516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Customer (CLV &gt; $1000)</a:t>
            </a:r>
            <a:endParaRPr lang="en-US" sz="510" dirty="0"/>
          </a:p>
        </p:txBody>
      </p:sp>
      <p:sp>
        <p:nvSpPr>
          <p:cNvPr id="135" name="Text 109"/>
          <p:cNvSpPr/>
          <p:nvPr/>
        </p:nvSpPr>
        <p:spPr>
          <a:xfrm>
            <a:off x="4530852" y="3177540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Intent (Rec Score &gt; 0.85)</a:t>
            </a:r>
            <a:endParaRPr lang="en-US" sz="510" dirty="0"/>
          </a:p>
        </p:txBody>
      </p:sp>
      <p:sp>
        <p:nvSpPr>
          <p:cNvPr id="136" name="Text 110"/>
          <p:cNvSpPr/>
          <p:nvPr/>
        </p:nvSpPr>
        <p:spPr>
          <a:xfrm>
            <a:off x="4530852" y="3369564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Upgrade Candidate (S22 + Propensity &gt; 0.75)</a:t>
            </a:r>
            <a:endParaRPr lang="en-US" sz="510" dirty="0"/>
          </a:p>
        </p:txBody>
      </p:sp>
      <p:sp>
        <p:nvSpPr>
          <p:cNvPr id="137" name="Text 111"/>
          <p:cNvSpPr/>
          <p:nvPr/>
        </p:nvSpPr>
        <p:spPr>
          <a:xfrm>
            <a:off x="4530852" y="3561588"/>
            <a:ext cx="1092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Campaign Eligible (No contact 30 days)</a:t>
            </a:r>
            <a:endParaRPr lang="en-US" sz="510" dirty="0"/>
          </a:p>
        </p:txBody>
      </p:sp>
      <p:sp>
        <p:nvSpPr>
          <p:cNvPr id="138" name="Shape 112"/>
          <p:cNvSpPr/>
          <p:nvPr/>
        </p:nvSpPr>
        <p:spPr>
          <a:xfrm>
            <a:off x="3364992" y="3685032"/>
            <a:ext cx="2331720" cy="182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9" name="Text 113"/>
          <p:cNvSpPr/>
          <p:nvPr/>
        </p:nvSpPr>
        <p:spPr>
          <a:xfrm>
            <a:off x="3364992" y="36850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• Consistency • Governance • Reusability</a:t>
            </a:r>
            <a:endParaRPr lang="en-US" sz="630" dirty="0"/>
          </a:p>
        </p:txBody>
      </p:sp>
      <p:sp>
        <p:nvSpPr>
          <p:cNvPr id="140" name="Shape 114"/>
          <p:cNvSpPr/>
          <p:nvPr/>
        </p:nvSpPr>
        <p:spPr>
          <a:xfrm>
            <a:off x="5806440" y="1536192"/>
            <a:ext cx="1783080" cy="2331720"/>
          </a:xfrm>
          <a:prstGeom prst="roundRect">
            <a:avLst>
              <a:gd name="adj" fmla="val 2564"/>
            </a:avLst>
          </a:prstGeom>
          <a:solidFill>
            <a:srgbClr val="F5EDFB"/>
          </a:solidFill>
          <a:ln w="15875">
            <a:solidFill>
              <a:srgbClr val="6A1B9A"/>
            </a:solidFill>
            <a:prstDash val="solid"/>
          </a:ln>
        </p:spPr>
      </p:sp>
      <p:sp>
        <p:nvSpPr>
          <p:cNvPr id="141" name="Shape 115"/>
          <p:cNvSpPr/>
          <p:nvPr/>
        </p:nvSpPr>
        <p:spPr>
          <a:xfrm>
            <a:off x="5806440" y="1536192"/>
            <a:ext cx="1783080" cy="219456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2" name="Text 116"/>
          <p:cNvSpPr/>
          <p:nvPr/>
        </p:nvSpPr>
        <p:spPr>
          <a:xfrm>
            <a:off x="5879592" y="15361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(RAG)</a:t>
            </a:r>
            <a:endParaRPr lang="en-US" sz="950" dirty="0"/>
          </a:p>
        </p:txBody>
      </p:sp>
      <p:pic>
        <p:nvPicPr>
          <p:cNvPr id="143" name="Image 24" descr="/home/claude/crm-deck/icons/book-purpl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79592" y="1828800"/>
            <a:ext cx="137160" cy="137160"/>
          </a:xfrm>
          <a:prstGeom prst="rect">
            <a:avLst/>
          </a:prstGeom>
        </p:spPr>
      </p:pic>
      <p:sp>
        <p:nvSpPr>
          <p:cNvPr id="144" name="Text 117"/>
          <p:cNvSpPr/>
          <p:nvPr/>
        </p:nvSpPr>
        <p:spPr>
          <a:xfrm>
            <a:off x="6062472" y="1828800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Playbooks</a:t>
            </a:r>
            <a:endParaRPr lang="en-US" sz="640" dirty="0"/>
          </a:p>
        </p:txBody>
      </p:sp>
      <p:pic>
        <p:nvPicPr>
          <p:cNvPr id="145" name="Image 25" descr="/home/claude/crm-deck/icons/book-purpl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879592" y="2052828"/>
            <a:ext cx="137160" cy="137160"/>
          </a:xfrm>
          <a:prstGeom prst="rect">
            <a:avLst/>
          </a:prstGeom>
        </p:spPr>
      </p:pic>
      <p:sp>
        <p:nvSpPr>
          <p:cNvPr id="146" name="Text 118"/>
          <p:cNvSpPr/>
          <p:nvPr/>
        </p:nvSpPr>
        <p:spPr>
          <a:xfrm>
            <a:off x="6062472" y="2052828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Age-based Messaging Guidelines</a:t>
            </a:r>
            <a:endParaRPr lang="en-US" sz="640" dirty="0"/>
          </a:p>
        </p:txBody>
      </p:sp>
      <p:pic>
        <p:nvPicPr>
          <p:cNvPr id="147" name="Image 26" descr="/home/claude/crm-deck/icons/book-purpl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879592" y="2276856"/>
            <a:ext cx="137160" cy="137160"/>
          </a:xfrm>
          <a:prstGeom prst="rect">
            <a:avLst/>
          </a:prstGeom>
        </p:spPr>
      </p:pic>
      <p:sp>
        <p:nvSpPr>
          <p:cNvPr id="148" name="Text 119"/>
          <p:cNvSpPr/>
          <p:nvPr/>
        </p:nvSpPr>
        <p:spPr>
          <a:xfrm>
            <a:off x="6062472" y="2276856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</a:t>
            </a:r>
            <a:endParaRPr lang="en-US" sz="640" dirty="0"/>
          </a:p>
        </p:txBody>
      </p:sp>
      <p:pic>
        <p:nvPicPr>
          <p:cNvPr id="149" name="Image 27" descr="/home/claude/crm-deck/icons/book-purpl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879592" y="2500884"/>
            <a:ext cx="137160" cy="137160"/>
          </a:xfrm>
          <a:prstGeom prst="rect">
            <a:avLst/>
          </a:prstGeom>
        </p:spPr>
      </p:pic>
      <p:sp>
        <p:nvSpPr>
          <p:cNvPr id="150" name="Text 120"/>
          <p:cNvSpPr/>
          <p:nvPr/>
        </p:nvSpPr>
        <p:spPr>
          <a:xfrm>
            <a:off x="6062472" y="2500884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Creative Guidelines</a:t>
            </a:r>
            <a:endParaRPr lang="en-US" sz="640" dirty="0"/>
          </a:p>
        </p:txBody>
      </p:sp>
      <p:pic>
        <p:nvPicPr>
          <p:cNvPr id="151" name="Image 28" descr="/home/claude/crm-deck/icons/book-purpl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879592" y="2724912"/>
            <a:ext cx="137160" cy="137160"/>
          </a:xfrm>
          <a:prstGeom prst="rect">
            <a:avLst/>
          </a:prstGeom>
        </p:spPr>
      </p:pic>
      <p:sp>
        <p:nvSpPr>
          <p:cNvPr id="152" name="Text 121"/>
          <p:cNvSpPr/>
          <p:nvPr/>
        </p:nvSpPr>
        <p:spPr>
          <a:xfrm>
            <a:off x="6062472" y="272491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Learnings</a:t>
            </a:r>
            <a:endParaRPr lang="en-US" sz="640" dirty="0"/>
          </a:p>
        </p:txBody>
      </p:sp>
      <p:pic>
        <p:nvPicPr>
          <p:cNvPr id="153" name="Image 29" descr="/home/claude/crm-deck/icons/book-purpl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879592" y="2948940"/>
            <a:ext cx="137160" cy="137160"/>
          </a:xfrm>
          <a:prstGeom prst="rect">
            <a:avLst/>
          </a:prstGeom>
        </p:spPr>
      </p:pic>
      <p:sp>
        <p:nvSpPr>
          <p:cNvPr id="154" name="Text 122"/>
          <p:cNvSpPr/>
          <p:nvPr/>
        </p:nvSpPr>
        <p:spPr>
          <a:xfrm>
            <a:off x="6062472" y="2948940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 Rules</a:t>
            </a:r>
            <a:endParaRPr lang="en-US" sz="640" dirty="0"/>
          </a:p>
        </p:txBody>
      </p:sp>
      <p:pic>
        <p:nvPicPr>
          <p:cNvPr id="155" name="Image 30" descr="/home/claude/crm-deck/icons/book-purpl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879592" y="3172968"/>
            <a:ext cx="137160" cy="137160"/>
          </a:xfrm>
          <a:prstGeom prst="rect">
            <a:avLst/>
          </a:prstGeom>
        </p:spPr>
      </p:pic>
      <p:sp>
        <p:nvSpPr>
          <p:cNvPr id="156" name="Text 123"/>
          <p:cNvSpPr/>
          <p:nvPr/>
        </p:nvSpPr>
        <p:spPr>
          <a:xfrm>
            <a:off x="6062472" y="3172968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/ Product Documentation</a:t>
            </a:r>
            <a:endParaRPr lang="en-US" sz="640" dirty="0"/>
          </a:p>
        </p:txBody>
      </p:sp>
      <p:sp>
        <p:nvSpPr>
          <p:cNvPr id="157" name="Shape 124"/>
          <p:cNvSpPr/>
          <p:nvPr/>
        </p:nvSpPr>
        <p:spPr>
          <a:xfrm>
            <a:off x="5806440" y="3685032"/>
            <a:ext cx="1783080" cy="1828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58" name="Text 125"/>
          <p:cNvSpPr/>
          <p:nvPr/>
        </p:nvSpPr>
        <p:spPr>
          <a:xfrm>
            <a:off x="5806440" y="368503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/ Document Store</a:t>
            </a:r>
            <a:endParaRPr lang="en-US" sz="630" dirty="0"/>
          </a:p>
        </p:txBody>
      </p:sp>
      <p:sp>
        <p:nvSpPr>
          <p:cNvPr id="159" name="Shape 126"/>
          <p:cNvSpPr/>
          <p:nvPr/>
        </p:nvSpPr>
        <p:spPr>
          <a:xfrm>
            <a:off x="7635240" y="1536192"/>
            <a:ext cx="1600200" cy="2331720"/>
          </a:xfrm>
          <a:prstGeom prst="roundRect">
            <a:avLst>
              <a:gd name="adj" fmla="val 2857"/>
            </a:avLst>
          </a:prstGeom>
          <a:solidFill>
            <a:srgbClr val="EAF0F7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160" name="Shape 127"/>
          <p:cNvSpPr/>
          <p:nvPr/>
        </p:nvSpPr>
        <p:spPr>
          <a:xfrm>
            <a:off x="7635240" y="1536192"/>
            <a:ext cx="1600200" cy="21945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1" name="Text 128"/>
          <p:cNvSpPr/>
          <p:nvPr/>
        </p:nvSpPr>
        <p:spPr>
          <a:xfrm>
            <a:off x="7708392" y="153619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950" dirty="0"/>
          </a:p>
        </p:txBody>
      </p:sp>
      <p:pic>
        <p:nvPicPr>
          <p:cNvPr id="162" name="Image 31" descr="/home/claude/crm-deck/icons/database-navy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708392" y="1828800"/>
            <a:ext cx="128016" cy="128016"/>
          </a:xfrm>
          <a:prstGeom prst="rect">
            <a:avLst/>
          </a:prstGeom>
        </p:spPr>
      </p:pic>
      <p:sp>
        <p:nvSpPr>
          <p:cNvPr id="163" name="Text 129"/>
          <p:cNvSpPr/>
          <p:nvPr/>
        </p:nvSpPr>
        <p:spPr>
          <a:xfrm>
            <a:off x="7882128" y="18242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/ Data Warehouse</a:t>
            </a:r>
            <a:endParaRPr lang="en-US" sz="630" dirty="0"/>
          </a:p>
        </p:txBody>
      </p:sp>
      <p:pic>
        <p:nvPicPr>
          <p:cNvPr id="164" name="Image 32" descr="/home/claude/crm-deck/icons/database-navy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708392" y="2025396"/>
            <a:ext cx="128016" cy="128016"/>
          </a:xfrm>
          <a:prstGeom prst="rect">
            <a:avLst/>
          </a:prstGeom>
        </p:spPr>
      </p:pic>
      <p:sp>
        <p:nvSpPr>
          <p:cNvPr id="165" name="Text 130"/>
          <p:cNvSpPr/>
          <p:nvPr/>
        </p:nvSpPr>
        <p:spPr>
          <a:xfrm>
            <a:off x="7882128" y="20208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630" dirty="0"/>
          </a:p>
        </p:txBody>
      </p:sp>
      <p:pic>
        <p:nvPicPr>
          <p:cNvPr id="166" name="Image 33" descr="/home/claude/crm-deck/icons/star-navy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708392" y="2221992"/>
            <a:ext cx="128016" cy="128016"/>
          </a:xfrm>
          <a:prstGeom prst="rect">
            <a:avLst/>
          </a:prstGeom>
        </p:spPr>
      </p:pic>
      <p:sp>
        <p:nvSpPr>
          <p:cNvPr id="167" name="Text 131"/>
          <p:cNvSpPr/>
          <p:nvPr/>
        </p:nvSpPr>
        <p:spPr>
          <a:xfrm>
            <a:off x="7882128" y="22174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Service</a:t>
            </a:r>
            <a:endParaRPr lang="en-US" sz="630" dirty="0"/>
          </a:p>
        </p:txBody>
      </p:sp>
      <p:pic>
        <p:nvPicPr>
          <p:cNvPr id="168" name="Image 34" descr="/home/claude/crm-deck/icons/image-navy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708392" y="2418588"/>
            <a:ext cx="128016" cy="128016"/>
          </a:xfrm>
          <a:prstGeom prst="rect">
            <a:avLst/>
          </a:prstGeom>
        </p:spPr>
      </p:pic>
      <p:sp>
        <p:nvSpPr>
          <p:cNvPr id="169" name="Text 132"/>
          <p:cNvSpPr/>
          <p:nvPr/>
        </p:nvSpPr>
        <p:spPr>
          <a:xfrm>
            <a:off x="7882128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Retrieval / Ranking</a:t>
            </a:r>
            <a:endParaRPr lang="en-US" sz="630" dirty="0"/>
          </a:p>
        </p:txBody>
      </p:sp>
      <p:pic>
        <p:nvPicPr>
          <p:cNvPr id="170" name="Image 35" descr="/home/claude/crm-deck/icons/crm-navy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708392" y="2615184"/>
            <a:ext cx="128016" cy="128016"/>
          </a:xfrm>
          <a:prstGeom prst="rect">
            <a:avLst/>
          </a:prstGeom>
        </p:spPr>
      </p:pic>
      <p:sp>
        <p:nvSpPr>
          <p:cNvPr id="171" name="Text 133"/>
          <p:cNvSpPr/>
          <p:nvPr/>
        </p:nvSpPr>
        <p:spPr>
          <a:xfrm>
            <a:off x="7882128" y="26106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Marketing APIs</a:t>
            </a:r>
            <a:endParaRPr lang="en-US" sz="630" dirty="0"/>
          </a:p>
        </p:txBody>
      </p:sp>
      <p:pic>
        <p:nvPicPr>
          <p:cNvPr id="172" name="Image 36" descr="/home/claude/crm-deck/icons/envelope-navy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708392" y="2811780"/>
            <a:ext cx="128016" cy="128016"/>
          </a:xfrm>
          <a:prstGeom prst="rect">
            <a:avLst/>
          </a:prstGeom>
        </p:spPr>
      </p:pic>
      <p:sp>
        <p:nvSpPr>
          <p:cNvPr id="173" name="Text 134"/>
          <p:cNvSpPr/>
          <p:nvPr/>
        </p:nvSpPr>
        <p:spPr>
          <a:xfrm>
            <a:off x="7882128" y="28072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/ Push APIs</a:t>
            </a:r>
            <a:endParaRPr lang="en-US" sz="630" dirty="0"/>
          </a:p>
        </p:txBody>
      </p:sp>
      <p:pic>
        <p:nvPicPr>
          <p:cNvPr id="174" name="Image 37" descr="/home/claude/crm-deck/icons/search-navy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08392" y="3008376"/>
            <a:ext cx="128016" cy="128016"/>
          </a:xfrm>
          <a:prstGeom prst="rect">
            <a:avLst/>
          </a:prstGeom>
        </p:spPr>
      </p:pic>
      <p:sp>
        <p:nvSpPr>
          <p:cNvPr id="175" name="Text 135"/>
          <p:cNvSpPr/>
          <p:nvPr/>
        </p:nvSpPr>
        <p:spPr>
          <a:xfrm>
            <a:off x="7882128" y="30038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Web Tools</a:t>
            </a:r>
            <a:endParaRPr lang="en-US" sz="630" dirty="0"/>
          </a:p>
        </p:txBody>
      </p:sp>
      <p:pic>
        <p:nvPicPr>
          <p:cNvPr id="176" name="Image 38" descr="/home/claude/crm-deck/icons/calculator-navy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708392" y="3204972"/>
            <a:ext cx="128016" cy="128016"/>
          </a:xfrm>
          <a:prstGeom prst="rect">
            <a:avLst/>
          </a:prstGeom>
        </p:spPr>
      </p:pic>
      <p:sp>
        <p:nvSpPr>
          <p:cNvPr id="177" name="Text 136"/>
          <p:cNvSpPr/>
          <p:nvPr/>
        </p:nvSpPr>
        <p:spPr>
          <a:xfrm>
            <a:off x="7882128" y="32004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/ Code Runner</a:t>
            </a:r>
            <a:endParaRPr lang="en-US" sz="630" dirty="0"/>
          </a:p>
        </p:txBody>
      </p:sp>
      <p:sp>
        <p:nvSpPr>
          <p:cNvPr id="178" name="Shape 137"/>
          <p:cNvSpPr/>
          <p:nvPr/>
        </p:nvSpPr>
        <p:spPr>
          <a:xfrm>
            <a:off x="9281160" y="1536192"/>
            <a:ext cx="2770632" cy="2331720"/>
          </a:xfrm>
          <a:prstGeom prst="roundRect">
            <a:avLst>
              <a:gd name="adj" fmla="val 1961"/>
            </a:avLst>
          </a:prstGeom>
          <a:solidFill>
            <a:srgbClr val="FDEEE6"/>
          </a:solidFill>
          <a:ln w="15875">
            <a:solidFill>
              <a:srgbClr val="E65100"/>
            </a:solidFill>
            <a:prstDash val="solid"/>
          </a:ln>
        </p:spPr>
      </p:sp>
      <p:sp>
        <p:nvSpPr>
          <p:cNvPr id="179" name="Shape 138"/>
          <p:cNvSpPr/>
          <p:nvPr/>
        </p:nvSpPr>
        <p:spPr>
          <a:xfrm>
            <a:off x="9281160" y="1536192"/>
            <a:ext cx="2770632" cy="21945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0" name="Text 139"/>
          <p:cNvSpPr/>
          <p:nvPr/>
        </p:nvSpPr>
        <p:spPr>
          <a:xfrm>
            <a:off x="9354312" y="1536192"/>
            <a:ext cx="2624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50" dirty="0"/>
          </a:p>
        </p:txBody>
      </p:sp>
      <p:pic>
        <p:nvPicPr>
          <p:cNvPr id="181" name="Image 39" descr="/home/claude/crm-deck/icons/brain-orang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372600" y="1856232"/>
            <a:ext cx="201168" cy="201168"/>
          </a:xfrm>
          <a:prstGeom prst="rect">
            <a:avLst/>
          </a:prstGeom>
        </p:spPr>
      </p:pic>
      <p:sp>
        <p:nvSpPr>
          <p:cNvPr id="182" name="Text 140"/>
          <p:cNvSpPr/>
          <p:nvPr/>
        </p:nvSpPr>
        <p:spPr>
          <a:xfrm>
            <a:off x="9646920" y="1865376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(Text Generation &amp; Reasoning)</a:t>
            </a:r>
            <a:endParaRPr lang="en-US" sz="720" dirty="0"/>
          </a:p>
        </p:txBody>
      </p:sp>
      <p:pic>
        <p:nvPicPr>
          <p:cNvPr id="183" name="Image 40" descr="/home/claude/crm-deck/icons/thumbup-orang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372600" y="2258568"/>
            <a:ext cx="201168" cy="201168"/>
          </a:xfrm>
          <a:prstGeom prst="rect">
            <a:avLst/>
          </a:prstGeom>
        </p:spPr>
      </p:pic>
      <p:sp>
        <p:nvSpPr>
          <p:cNvPr id="184" name="Text 141"/>
          <p:cNvSpPr/>
          <p:nvPr/>
        </p:nvSpPr>
        <p:spPr>
          <a:xfrm>
            <a:off x="9646920" y="2267712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Models</a:t>
            </a:r>
            <a:endParaRPr lang="en-US" sz="720" dirty="0"/>
          </a:p>
        </p:txBody>
      </p:sp>
      <p:pic>
        <p:nvPicPr>
          <p:cNvPr id="185" name="Image 41" descr="/home/claude/crm-deck/icons/chartline-orange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372600" y="2660904"/>
            <a:ext cx="201168" cy="201168"/>
          </a:xfrm>
          <a:prstGeom prst="rect">
            <a:avLst/>
          </a:prstGeom>
        </p:spPr>
      </p:pic>
      <p:sp>
        <p:nvSpPr>
          <p:cNvPr id="186" name="Text 142"/>
          <p:cNvSpPr/>
          <p:nvPr/>
        </p:nvSpPr>
        <p:spPr>
          <a:xfrm>
            <a:off x="9646920" y="267004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/ Uplift Models</a:t>
            </a:r>
            <a:endParaRPr lang="en-US" sz="720" dirty="0"/>
          </a:p>
        </p:txBody>
      </p:sp>
      <p:pic>
        <p:nvPicPr>
          <p:cNvPr id="187" name="Image 42" descr="/home/claude/crm-deck/icons/image-orange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372600" y="3063240"/>
            <a:ext cx="201168" cy="201168"/>
          </a:xfrm>
          <a:prstGeom prst="rect">
            <a:avLst/>
          </a:prstGeom>
        </p:spPr>
      </p:pic>
      <p:sp>
        <p:nvSpPr>
          <p:cNvPr id="188" name="Text 143"/>
          <p:cNvSpPr/>
          <p:nvPr/>
        </p:nvSpPr>
        <p:spPr>
          <a:xfrm>
            <a:off x="9646920" y="3072384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Ranking / Multimodal Models</a:t>
            </a:r>
            <a:endParaRPr lang="en-US" sz="720" dirty="0"/>
          </a:p>
        </p:txBody>
      </p:sp>
      <p:pic>
        <p:nvPicPr>
          <p:cNvPr id="189" name="Image 43" descr="/home/claude/crm-deck/icons/bullseye-orange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372600" y="3465576"/>
            <a:ext cx="201168" cy="201168"/>
          </a:xfrm>
          <a:prstGeom prst="rect">
            <a:avLst/>
          </a:prstGeom>
        </p:spPr>
      </p:pic>
      <p:sp>
        <p:nvSpPr>
          <p:cNvPr id="190" name="Text 144"/>
          <p:cNvSpPr/>
          <p:nvPr/>
        </p:nvSpPr>
        <p:spPr>
          <a:xfrm>
            <a:off x="9646920" y="347472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/ Conversion Prediction Models</a:t>
            </a:r>
            <a:endParaRPr lang="en-US" sz="720" dirty="0"/>
          </a:p>
        </p:txBody>
      </p:sp>
      <p:sp>
        <p:nvSpPr>
          <p:cNvPr id="191" name="Shape 145"/>
          <p:cNvSpPr/>
          <p:nvPr/>
        </p:nvSpPr>
        <p:spPr>
          <a:xfrm>
            <a:off x="1874520" y="3959352"/>
            <a:ext cx="8348472" cy="868680"/>
          </a:xfrm>
          <a:prstGeom prst="roundRect">
            <a:avLst>
              <a:gd name="adj" fmla="val 6316"/>
            </a:avLst>
          </a:prstGeom>
          <a:solidFill>
            <a:srgbClr val="EDF0F8"/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192" name="Shape 146"/>
          <p:cNvSpPr/>
          <p:nvPr/>
        </p:nvSpPr>
        <p:spPr>
          <a:xfrm>
            <a:off x="1874520" y="3959352"/>
            <a:ext cx="8348472" cy="21945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93" name="Text 147"/>
          <p:cNvSpPr/>
          <p:nvPr/>
        </p:nvSpPr>
        <p:spPr>
          <a:xfrm>
            <a:off x="1874520" y="3959352"/>
            <a:ext cx="8348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HARNESS LAYER (The Harness Around the Model)</a:t>
            </a:r>
            <a:endParaRPr lang="en-US" sz="900" dirty="0"/>
          </a:p>
        </p:txBody>
      </p:sp>
      <p:sp>
        <p:nvSpPr>
          <p:cNvPr id="194" name="Shape 148"/>
          <p:cNvSpPr/>
          <p:nvPr/>
        </p:nvSpPr>
        <p:spPr>
          <a:xfrm>
            <a:off x="1965960" y="4233672"/>
            <a:ext cx="765353" cy="52120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9FB3D9"/>
            </a:solidFill>
            <a:prstDash val="solid"/>
          </a:ln>
        </p:spPr>
      </p:sp>
      <p:pic>
        <p:nvPicPr>
          <p:cNvPr id="195" name="Image 44" descr="/home/claude/crm-deck/icons/filelines-navy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257196" y="4288536"/>
            <a:ext cx="182880" cy="182880"/>
          </a:xfrm>
          <a:prstGeom prst="rect">
            <a:avLst/>
          </a:prstGeom>
        </p:spPr>
      </p:pic>
      <p:sp>
        <p:nvSpPr>
          <p:cNvPr id="196" name="Text 149"/>
          <p:cNvSpPr/>
          <p:nvPr/>
        </p:nvSpPr>
        <p:spPr>
          <a:xfrm>
            <a:off x="1975104" y="4498848"/>
            <a:ext cx="72877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580" dirty="0"/>
          </a:p>
        </p:txBody>
      </p:sp>
      <p:sp>
        <p:nvSpPr>
          <p:cNvPr id="197" name="Text 150"/>
          <p:cNvSpPr/>
          <p:nvPr/>
        </p:nvSpPr>
        <p:spPr>
          <a:xfrm>
            <a:off x="1975104" y="4608576"/>
            <a:ext cx="7287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Libraries</a:t>
            </a:r>
            <a:endParaRPr lang="en-US" sz="500" dirty="0"/>
          </a:p>
        </p:txBody>
      </p:sp>
      <p:sp>
        <p:nvSpPr>
          <p:cNvPr id="198" name="Shape 151"/>
          <p:cNvSpPr/>
          <p:nvPr/>
        </p:nvSpPr>
        <p:spPr>
          <a:xfrm>
            <a:off x="2786177" y="4233672"/>
            <a:ext cx="765353" cy="52120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9FB3D9"/>
            </a:solidFill>
            <a:prstDash val="solid"/>
          </a:ln>
        </p:spPr>
      </p:sp>
      <p:pic>
        <p:nvPicPr>
          <p:cNvPr id="199" name="Image 45" descr="/home/claude/crm-deck/icons/layer-navy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077413" y="4288536"/>
            <a:ext cx="182880" cy="182880"/>
          </a:xfrm>
          <a:prstGeom prst="rect">
            <a:avLst/>
          </a:prstGeom>
        </p:spPr>
      </p:pic>
      <p:sp>
        <p:nvSpPr>
          <p:cNvPr id="200" name="Text 152"/>
          <p:cNvSpPr/>
          <p:nvPr/>
        </p:nvSpPr>
        <p:spPr>
          <a:xfrm>
            <a:off x="2795321" y="4498848"/>
            <a:ext cx="72877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580" dirty="0"/>
          </a:p>
        </p:txBody>
      </p:sp>
      <p:sp>
        <p:nvSpPr>
          <p:cNvPr id="201" name="Text 153"/>
          <p:cNvSpPr/>
          <p:nvPr/>
        </p:nvSpPr>
        <p:spPr>
          <a:xfrm>
            <a:off x="2795321" y="4608576"/>
            <a:ext cx="7287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500" dirty="0"/>
          </a:p>
        </p:txBody>
      </p:sp>
      <p:sp>
        <p:nvSpPr>
          <p:cNvPr id="202" name="Shape 154"/>
          <p:cNvSpPr/>
          <p:nvPr/>
        </p:nvSpPr>
        <p:spPr>
          <a:xfrm>
            <a:off x="3606394" y="4233672"/>
            <a:ext cx="765353" cy="52120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9FB3D9"/>
            </a:solidFill>
            <a:prstDash val="solid"/>
          </a:ln>
        </p:spPr>
      </p:sp>
      <p:pic>
        <p:nvPicPr>
          <p:cNvPr id="203" name="Image 46" descr="/home/claude/crm-deck/icons/brain-navy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897630" y="4288536"/>
            <a:ext cx="182880" cy="182880"/>
          </a:xfrm>
          <a:prstGeom prst="rect">
            <a:avLst/>
          </a:prstGeom>
        </p:spPr>
      </p:pic>
      <p:sp>
        <p:nvSpPr>
          <p:cNvPr id="204" name="Text 155"/>
          <p:cNvSpPr/>
          <p:nvPr/>
        </p:nvSpPr>
        <p:spPr>
          <a:xfrm>
            <a:off x="3615538" y="4498848"/>
            <a:ext cx="72877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580" dirty="0"/>
          </a:p>
        </p:txBody>
      </p:sp>
      <p:sp>
        <p:nvSpPr>
          <p:cNvPr id="205" name="Text 156"/>
          <p:cNvSpPr/>
          <p:nvPr/>
        </p:nvSpPr>
        <p:spPr>
          <a:xfrm>
            <a:off x="3615538" y="4608576"/>
            <a:ext cx="7287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(Conversation &amp; Entity Store)</a:t>
            </a:r>
            <a:endParaRPr lang="en-US" sz="500" dirty="0"/>
          </a:p>
        </p:txBody>
      </p:sp>
      <p:sp>
        <p:nvSpPr>
          <p:cNvPr id="206" name="Shape 157"/>
          <p:cNvSpPr/>
          <p:nvPr/>
        </p:nvSpPr>
        <p:spPr>
          <a:xfrm>
            <a:off x="4426610" y="4233672"/>
            <a:ext cx="765353" cy="52120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9FB3D9"/>
            </a:solidFill>
            <a:prstDash val="solid"/>
          </a:ln>
        </p:spPr>
      </p:sp>
      <p:pic>
        <p:nvPicPr>
          <p:cNvPr id="207" name="Image 47" descr="/home/claude/crm-deck/icons/shield-navy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717847" y="4288536"/>
            <a:ext cx="182880" cy="182880"/>
          </a:xfrm>
          <a:prstGeom prst="rect">
            <a:avLst/>
          </a:prstGeom>
        </p:spPr>
      </p:pic>
      <p:sp>
        <p:nvSpPr>
          <p:cNvPr id="208" name="Text 158"/>
          <p:cNvSpPr/>
          <p:nvPr/>
        </p:nvSpPr>
        <p:spPr>
          <a:xfrm>
            <a:off x="4435754" y="4498848"/>
            <a:ext cx="72877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580" dirty="0"/>
          </a:p>
        </p:txBody>
      </p:sp>
      <p:sp>
        <p:nvSpPr>
          <p:cNvPr id="209" name="Text 159"/>
          <p:cNvSpPr/>
          <p:nvPr/>
        </p:nvSpPr>
        <p:spPr>
          <a:xfrm>
            <a:off x="4435754" y="4608576"/>
            <a:ext cx="7287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Content Safety</a:t>
            </a:r>
            <a:endParaRPr lang="en-US" sz="500" dirty="0"/>
          </a:p>
        </p:txBody>
      </p:sp>
      <p:sp>
        <p:nvSpPr>
          <p:cNvPr id="210" name="Shape 160"/>
          <p:cNvSpPr/>
          <p:nvPr/>
        </p:nvSpPr>
        <p:spPr>
          <a:xfrm>
            <a:off x="5246827" y="4233672"/>
            <a:ext cx="765353" cy="52120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9FB3D9"/>
            </a:solidFill>
            <a:prstDash val="solid"/>
          </a:ln>
        </p:spPr>
      </p:sp>
      <p:pic>
        <p:nvPicPr>
          <p:cNvPr id="211" name="Image 48" descr="/home/claude/crm-deck/icons/gavel-navy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538064" y="4288536"/>
            <a:ext cx="182880" cy="182880"/>
          </a:xfrm>
          <a:prstGeom prst="rect">
            <a:avLst/>
          </a:prstGeom>
        </p:spPr>
      </p:pic>
      <p:sp>
        <p:nvSpPr>
          <p:cNvPr id="212" name="Text 161"/>
          <p:cNvSpPr/>
          <p:nvPr/>
        </p:nvSpPr>
        <p:spPr>
          <a:xfrm>
            <a:off x="5255971" y="4498848"/>
            <a:ext cx="72877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580" dirty="0"/>
          </a:p>
        </p:txBody>
      </p:sp>
      <p:sp>
        <p:nvSpPr>
          <p:cNvPr id="213" name="Text 162"/>
          <p:cNvSpPr/>
          <p:nvPr/>
        </p:nvSpPr>
        <p:spPr>
          <a:xfrm>
            <a:off x="5255971" y="4608576"/>
            <a:ext cx="7287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(RBAC, ABAC)</a:t>
            </a:r>
            <a:endParaRPr lang="en-US" sz="500" dirty="0"/>
          </a:p>
        </p:txBody>
      </p:sp>
      <p:sp>
        <p:nvSpPr>
          <p:cNvPr id="214" name="Shape 163"/>
          <p:cNvSpPr/>
          <p:nvPr/>
        </p:nvSpPr>
        <p:spPr>
          <a:xfrm>
            <a:off x="6067044" y="4233672"/>
            <a:ext cx="765353" cy="52120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9FB3D9"/>
            </a:solidFill>
            <a:prstDash val="solid"/>
          </a:ln>
        </p:spPr>
      </p:sp>
      <p:pic>
        <p:nvPicPr>
          <p:cNvPr id="215" name="Image 49" descr="/home/claude/crm-deck/icons/checksquare-navy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358280" y="4288536"/>
            <a:ext cx="182880" cy="182880"/>
          </a:xfrm>
          <a:prstGeom prst="rect">
            <a:avLst/>
          </a:prstGeom>
        </p:spPr>
      </p:pic>
      <p:sp>
        <p:nvSpPr>
          <p:cNvPr id="216" name="Text 164"/>
          <p:cNvSpPr/>
          <p:nvPr/>
        </p:nvSpPr>
        <p:spPr>
          <a:xfrm>
            <a:off x="6076188" y="4498848"/>
            <a:ext cx="72877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580" dirty="0"/>
          </a:p>
        </p:txBody>
      </p:sp>
      <p:sp>
        <p:nvSpPr>
          <p:cNvPr id="217" name="Text 165"/>
          <p:cNvSpPr/>
          <p:nvPr/>
        </p:nvSpPr>
        <p:spPr>
          <a:xfrm>
            <a:off x="6076188" y="4608576"/>
            <a:ext cx="7287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Sanitization</a:t>
            </a:r>
            <a:endParaRPr lang="en-US" sz="500" dirty="0"/>
          </a:p>
        </p:txBody>
      </p:sp>
      <p:sp>
        <p:nvSpPr>
          <p:cNvPr id="218" name="Shape 166"/>
          <p:cNvSpPr/>
          <p:nvPr/>
        </p:nvSpPr>
        <p:spPr>
          <a:xfrm>
            <a:off x="6887261" y="4233672"/>
            <a:ext cx="765353" cy="52120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9FB3D9"/>
            </a:solidFill>
            <a:prstDash val="solid"/>
          </a:ln>
        </p:spPr>
      </p:sp>
      <p:pic>
        <p:nvPicPr>
          <p:cNvPr id="219" name="Image 50" descr="/home/claude/crm-deck/icons/sync-navy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178497" y="4288536"/>
            <a:ext cx="182880" cy="182880"/>
          </a:xfrm>
          <a:prstGeom prst="rect">
            <a:avLst/>
          </a:prstGeom>
        </p:spPr>
      </p:pic>
      <p:sp>
        <p:nvSpPr>
          <p:cNvPr id="220" name="Text 167"/>
          <p:cNvSpPr/>
          <p:nvPr/>
        </p:nvSpPr>
        <p:spPr>
          <a:xfrm>
            <a:off x="6896405" y="4498848"/>
            <a:ext cx="72877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/ Fallback</a:t>
            </a:r>
            <a:endParaRPr lang="en-US" sz="580" dirty="0"/>
          </a:p>
        </p:txBody>
      </p:sp>
      <p:sp>
        <p:nvSpPr>
          <p:cNvPr id="221" name="Text 168"/>
          <p:cNvSpPr/>
          <p:nvPr/>
        </p:nvSpPr>
        <p:spPr>
          <a:xfrm>
            <a:off x="6896405" y="4608576"/>
            <a:ext cx="7287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Error Handling</a:t>
            </a:r>
            <a:endParaRPr lang="en-US" sz="500" dirty="0"/>
          </a:p>
        </p:txBody>
      </p:sp>
      <p:sp>
        <p:nvSpPr>
          <p:cNvPr id="222" name="Shape 169"/>
          <p:cNvSpPr/>
          <p:nvPr/>
        </p:nvSpPr>
        <p:spPr>
          <a:xfrm>
            <a:off x="7707478" y="4233672"/>
            <a:ext cx="765353" cy="52120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9FB3D9"/>
            </a:solidFill>
            <a:prstDash val="solid"/>
          </a:ln>
        </p:spPr>
      </p:sp>
      <p:pic>
        <p:nvPicPr>
          <p:cNvPr id="223" name="Image 51" descr="/home/claude/crm-deck/icons/dollar-navy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998714" y="4288536"/>
            <a:ext cx="182880" cy="182880"/>
          </a:xfrm>
          <a:prstGeom prst="rect">
            <a:avLst/>
          </a:prstGeom>
        </p:spPr>
      </p:pic>
      <p:sp>
        <p:nvSpPr>
          <p:cNvPr id="224" name="Text 170"/>
          <p:cNvSpPr/>
          <p:nvPr/>
        </p:nvSpPr>
        <p:spPr>
          <a:xfrm>
            <a:off x="7716622" y="4498848"/>
            <a:ext cx="72877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</a:t>
            </a:r>
            <a:endParaRPr lang="en-US" sz="580" dirty="0"/>
          </a:p>
        </p:txBody>
      </p:sp>
      <p:sp>
        <p:nvSpPr>
          <p:cNvPr id="225" name="Text 171"/>
          <p:cNvSpPr/>
          <p:nvPr/>
        </p:nvSpPr>
        <p:spPr>
          <a:xfrm>
            <a:off x="7716622" y="4608576"/>
            <a:ext cx="7287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Rate Limiting</a:t>
            </a:r>
            <a:endParaRPr lang="en-US" sz="500" dirty="0"/>
          </a:p>
        </p:txBody>
      </p:sp>
      <p:sp>
        <p:nvSpPr>
          <p:cNvPr id="226" name="Shape 172"/>
          <p:cNvSpPr/>
          <p:nvPr/>
        </p:nvSpPr>
        <p:spPr>
          <a:xfrm>
            <a:off x="8527694" y="4233672"/>
            <a:ext cx="765353" cy="52120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9FB3D9"/>
            </a:solidFill>
            <a:prstDash val="solid"/>
          </a:ln>
        </p:spPr>
      </p:sp>
      <p:pic>
        <p:nvPicPr>
          <p:cNvPr id="227" name="Image 52" descr="/home/claude/crm-deck/icons/eye-navy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818931" y="4288536"/>
            <a:ext cx="182880" cy="182880"/>
          </a:xfrm>
          <a:prstGeom prst="rect">
            <a:avLst/>
          </a:prstGeom>
        </p:spPr>
      </p:pic>
      <p:sp>
        <p:nvSpPr>
          <p:cNvPr id="228" name="Text 173"/>
          <p:cNvSpPr/>
          <p:nvPr/>
        </p:nvSpPr>
        <p:spPr>
          <a:xfrm>
            <a:off x="8536838" y="4498848"/>
            <a:ext cx="72877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580" dirty="0"/>
          </a:p>
        </p:txBody>
      </p:sp>
      <p:sp>
        <p:nvSpPr>
          <p:cNvPr id="229" name="Text 174"/>
          <p:cNvSpPr/>
          <p:nvPr/>
        </p:nvSpPr>
        <p:spPr>
          <a:xfrm>
            <a:off x="8536838" y="4608576"/>
            <a:ext cx="7287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Tracing (Logs, Metrics)</a:t>
            </a:r>
            <a:endParaRPr lang="en-US" sz="500" dirty="0"/>
          </a:p>
        </p:txBody>
      </p:sp>
      <p:sp>
        <p:nvSpPr>
          <p:cNvPr id="230" name="Shape 175"/>
          <p:cNvSpPr/>
          <p:nvPr/>
        </p:nvSpPr>
        <p:spPr>
          <a:xfrm>
            <a:off x="9347911" y="4233672"/>
            <a:ext cx="765353" cy="52120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7620">
            <a:solidFill>
              <a:srgbClr val="9FB3D9"/>
            </a:solidFill>
            <a:prstDash val="solid"/>
          </a:ln>
        </p:spPr>
      </p:sp>
      <p:pic>
        <p:nvPicPr>
          <p:cNvPr id="231" name="Image 53" descr="/home/claude/crm-deck/icons/clipcheck-navy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639148" y="4288536"/>
            <a:ext cx="182880" cy="182880"/>
          </a:xfrm>
          <a:prstGeom prst="rect">
            <a:avLst/>
          </a:prstGeom>
        </p:spPr>
      </p:pic>
      <p:sp>
        <p:nvSpPr>
          <p:cNvPr id="232" name="Text 176"/>
          <p:cNvSpPr/>
          <p:nvPr/>
        </p:nvSpPr>
        <p:spPr>
          <a:xfrm>
            <a:off x="9357055" y="4498848"/>
            <a:ext cx="728777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580" dirty="0"/>
          </a:p>
        </p:txBody>
      </p:sp>
      <p:sp>
        <p:nvSpPr>
          <p:cNvPr id="233" name="Text 177"/>
          <p:cNvSpPr/>
          <p:nvPr/>
        </p:nvSpPr>
        <p:spPr>
          <a:xfrm>
            <a:off x="9357055" y="4608576"/>
            <a:ext cx="7287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Quality (Offline/Online)</a:t>
            </a:r>
            <a:endParaRPr lang="en-US" sz="500" dirty="0"/>
          </a:p>
        </p:txBody>
      </p:sp>
      <p:sp>
        <p:nvSpPr>
          <p:cNvPr id="234" name="Shape 178"/>
          <p:cNvSpPr/>
          <p:nvPr/>
        </p:nvSpPr>
        <p:spPr>
          <a:xfrm>
            <a:off x="10314432" y="3959352"/>
            <a:ext cx="1740103" cy="1901952"/>
          </a:xfrm>
          <a:prstGeom prst="roundRect">
            <a:avLst>
              <a:gd name="adj" fmla="val 2627"/>
            </a:avLst>
          </a:prstGeom>
          <a:solidFill>
            <a:srgbClr val="FFFFFF"/>
          </a:solidFill>
          <a:ln w="15875">
            <a:solidFill>
              <a:srgbClr val="1B2A5B"/>
            </a:solidFill>
            <a:prstDash val="solid"/>
          </a:ln>
        </p:spPr>
      </p:sp>
      <p:sp>
        <p:nvSpPr>
          <p:cNvPr id="235" name="Shape 179"/>
          <p:cNvSpPr/>
          <p:nvPr/>
        </p:nvSpPr>
        <p:spPr>
          <a:xfrm>
            <a:off x="10314432" y="3959352"/>
            <a:ext cx="1740103" cy="219456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236" name="Text 180"/>
          <p:cNvSpPr/>
          <p:nvPr/>
        </p:nvSpPr>
        <p:spPr>
          <a:xfrm>
            <a:off x="10387584" y="3959352"/>
            <a:ext cx="15937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950" dirty="0"/>
          </a:p>
        </p:txBody>
      </p:sp>
      <p:pic>
        <p:nvPicPr>
          <p:cNvPr id="237" name="Image 54" descr="/home/claude/crm-deck/icons/shield-navy2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0405872" y="4251960"/>
            <a:ext cx="137160" cy="137160"/>
          </a:xfrm>
          <a:prstGeom prst="rect">
            <a:avLst/>
          </a:prstGeom>
        </p:spPr>
      </p:pic>
      <p:sp>
        <p:nvSpPr>
          <p:cNvPr id="238" name="Text 181"/>
          <p:cNvSpPr/>
          <p:nvPr/>
        </p:nvSpPr>
        <p:spPr>
          <a:xfrm>
            <a:off x="10607040" y="4256532"/>
            <a:ext cx="1356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Lineage</a:t>
            </a:r>
            <a:endParaRPr lang="en-US" sz="640" dirty="0"/>
          </a:p>
        </p:txBody>
      </p:sp>
      <p:pic>
        <p:nvPicPr>
          <p:cNvPr id="239" name="Image 55" descr="/home/claude/crm-deck/icons/checkcircle-navy2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405872" y="4524451"/>
            <a:ext cx="137160" cy="137160"/>
          </a:xfrm>
          <a:prstGeom prst="rect">
            <a:avLst/>
          </a:prstGeom>
        </p:spPr>
      </p:pic>
      <p:sp>
        <p:nvSpPr>
          <p:cNvPr id="240" name="Text 182"/>
          <p:cNvSpPr/>
          <p:nvPr/>
        </p:nvSpPr>
        <p:spPr>
          <a:xfrm>
            <a:off x="10607040" y="4529023"/>
            <a:ext cx="1356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Monitoring</a:t>
            </a:r>
            <a:endParaRPr lang="en-US" sz="640" dirty="0"/>
          </a:p>
        </p:txBody>
      </p:sp>
      <p:pic>
        <p:nvPicPr>
          <p:cNvPr id="241" name="Image 56" descr="/home/claude/crm-deck/icons/lock-navy2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0405872" y="4796942"/>
            <a:ext cx="137160" cy="137160"/>
          </a:xfrm>
          <a:prstGeom prst="rect">
            <a:avLst/>
          </a:prstGeom>
        </p:spPr>
      </p:pic>
      <p:sp>
        <p:nvSpPr>
          <p:cNvPr id="242" name="Text 183"/>
          <p:cNvSpPr/>
          <p:nvPr/>
        </p:nvSpPr>
        <p:spPr>
          <a:xfrm>
            <a:off x="10607040" y="4801514"/>
            <a:ext cx="1356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PII Protection</a:t>
            </a:r>
            <a:endParaRPr lang="en-US" sz="640" dirty="0"/>
          </a:p>
        </p:txBody>
      </p:sp>
      <p:pic>
        <p:nvPicPr>
          <p:cNvPr id="243" name="Image 57" descr="/home/claude/crm-deck/icons/clipboard-navy2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0405872" y="5069434"/>
            <a:ext cx="137160" cy="137160"/>
          </a:xfrm>
          <a:prstGeom prst="rect">
            <a:avLst/>
          </a:prstGeom>
        </p:spPr>
      </p:pic>
      <p:sp>
        <p:nvSpPr>
          <p:cNvPr id="244" name="Text 184"/>
          <p:cNvSpPr/>
          <p:nvPr/>
        </p:nvSpPr>
        <p:spPr>
          <a:xfrm>
            <a:off x="10607040" y="5074006"/>
            <a:ext cx="1356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ABAC Access Control</a:t>
            </a:r>
            <a:endParaRPr lang="en-US" sz="640" dirty="0"/>
          </a:p>
        </p:txBody>
      </p:sp>
      <p:pic>
        <p:nvPicPr>
          <p:cNvPr id="245" name="Image 58" descr="/home/claude/crm-deck/icons/clipcheck-navy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0405872" y="5341925"/>
            <a:ext cx="137160" cy="137160"/>
          </a:xfrm>
          <a:prstGeom prst="rect">
            <a:avLst/>
          </a:prstGeom>
        </p:spPr>
      </p:pic>
      <p:sp>
        <p:nvSpPr>
          <p:cNvPr id="246" name="Text 185"/>
          <p:cNvSpPr/>
          <p:nvPr/>
        </p:nvSpPr>
        <p:spPr>
          <a:xfrm>
            <a:off x="10607040" y="5346497"/>
            <a:ext cx="1356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&amp; Compliance</a:t>
            </a:r>
            <a:endParaRPr lang="en-US" sz="640" dirty="0"/>
          </a:p>
        </p:txBody>
      </p:sp>
      <p:pic>
        <p:nvPicPr>
          <p:cNvPr id="247" name="Image 59" descr="/home/claude/crm-deck/icons/chartline-navy2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0405872" y="5614416"/>
            <a:ext cx="137160" cy="137160"/>
          </a:xfrm>
          <a:prstGeom prst="rect">
            <a:avLst/>
          </a:prstGeom>
        </p:spPr>
      </p:pic>
      <p:sp>
        <p:nvSpPr>
          <p:cNvPr id="248" name="Text 186"/>
          <p:cNvSpPr/>
          <p:nvPr/>
        </p:nvSpPr>
        <p:spPr>
          <a:xfrm>
            <a:off x="10607040" y="5618988"/>
            <a:ext cx="1356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&amp; Monitoring</a:t>
            </a:r>
            <a:endParaRPr lang="en-US" sz="640" dirty="0"/>
          </a:p>
        </p:txBody>
      </p:sp>
      <p:sp>
        <p:nvSpPr>
          <p:cNvPr id="249" name="Shape 187"/>
          <p:cNvSpPr/>
          <p:nvPr/>
        </p:nvSpPr>
        <p:spPr>
          <a:xfrm>
            <a:off x="1874520" y="4901184"/>
            <a:ext cx="8348472" cy="960120"/>
          </a:xfrm>
          <a:prstGeom prst="roundRect">
            <a:avLst>
              <a:gd name="adj" fmla="val 5714"/>
            </a:avLst>
          </a:prstGeom>
          <a:solidFill>
            <a:srgbClr val="E6F4F2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50" name="Shape 188"/>
          <p:cNvSpPr/>
          <p:nvPr/>
        </p:nvSpPr>
        <p:spPr>
          <a:xfrm>
            <a:off x="1874520" y="4901184"/>
            <a:ext cx="8348472" cy="2194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1" name="Text 189"/>
          <p:cNvSpPr/>
          <p:nvPr/>
        </p:nvSpPr>
        <p:spPr>
          <a:xfrm>
            <a:off x="1874520" y="4901184"/>
            <a:ext cx="8348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(Specialized AI Agents)</a:t>
            </a:r>
            <a:endParaRPr lang="en-US" sz="900" dirty="0"/>
          </a:p>
        </p:txBody>
      </p:sp>
      <p:pic>
        <p:nvPicPr>
          <p:cNvPr id="252" name="Image 60" descr="/home/claude/crm-deck/icons/users-teal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965960" y="5166360"/>
            <a:ext cx="146304" cy="146304"/>
          </a:xfrm>
          <a:prstGeom prst="rect">
            <a:avLst/>
          </a:prstGeom>
        </p:spPr>
      </p:pic>
      <p:sp>
        <p:nvSpPr>
          <p:cNvPr id="253" name="Text 190"/>
          <p:cNvSpPr/>
          <p:nvPr/>
        </p:nvSpPr>
        <p:spPr>
          <a:xfrm>
            <a:off x="2148840" y="5152644"/>
            <a:ext cx="8924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Audience Agent</a:t>
            </a:r>
            <a:endParaRPr lang="en-US" sz="570" dirty="0"/>
          </a:p>
        </p:txBody>
      </p:sp>
      <p:sp>
        <p:nvSpPr>
          <p:cNvPr id="254" name="Text 191"/>
          <p:cNvSpPr/>
          <p:nvPr/>
        </p:nvSpPr>
        <p:spPr>
          <a:xfrm>
            <a:off x="2148840" y="5266944"/>
            <a:ext cx="89245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7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(Semantic + Models)</a:t>
            </a:r>
            <a:endParaRPr lang="en-US" sz="470" dirty="0"/>
          </a:p>
        </p:txBody>
      </p:sp>
      <p:sp>
        <p:nvSpPr>
          <p:cNvPr id="255" name="Text 192"/>
          <p:cNvSpPr/>
          <p:nvPr/>
        </p:nvSpPr>
        <p:spPr>
          <a:xfrm>
            <a:off x="1965960" y="5385816"/>
            <a:ext cx="1038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best audience using business rules, metrics, propensity models</a:t>
            </a:r>
            <a:endParaRPr lang="en-US" sz="490" dirty="0"/>
          </a:p>
        </p:txBody>
      </p:sp>
      <p:sp>
        <p:nvSpPr>
          <p:cNvPr id="256" name="Text 193"/>
          <p:cNvSpPr/>
          <p:nvPr/>
        </p:nvSpPr>
        <p:spPr>
          <a:xfrm>
            <a:off x="2995574" y="540410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pic>
        <p:nvPicPr>
          <p:cNvPr id="257" name="Image 61" descr="/home/claude/crm-deck/icons/bullseye-teal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059582" y="5166360"/>
            <a:ext cx="146304" cy="146304"/>
          </a:xfrm>
          <a:prstGeom prst="rect">
            <a:avLst/>
          </a:prstGeom>
        </p:spPr>
      </p:pic>
      <p:sp>
        <p:nvSpPr>
          <p:cNvPr id="258" name="Text 194"/>
          <p:cNvSpPr/>
          <p:nvPr/>
        </p:nvSpPr>
        <p:spPr>
          <a:xfrm>
            <a:off x="3242462" y="5152644"/>
            <a:ext cx="8924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Campaign Strategy Agent</a:t>
            </a:r>
            <a:endParaRPr lang="en-US" sz="570" dirty="0"/>
          </a:p>
        </p:txBody>
      </p:sp>
      <p:sp>
        <p:nvSpPr>
          <p:cNvPr id="259" name="Text 195"/>
          <p:cNvSpPr/>
          <p:nvPr/>
        </p:nvSpPr>
        <p:spPr>
          <a:xfrm>
            <a:off x="3242462" y="5266944"/>
            <a:ext cx="89245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7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(Models + RAG)</a:t>
            </a:r>
            <a:endParaRPr lang="en-US" sz="470" dirty="0"/>
          </a:p>
        </p:txBody>
      </p:sp>
      <p:sp>
        <p:nvSpPr>
          <p:cNvPr id="260" name="Text 196"/>
          <p:cNvSpPr/>
          <p:nvPr/>
        </p:nvSpPr>
        <p:spPr>
          <a:xfrm>
            <a:off x="3059582" y="5385816"/>
            <a:ext cx="1038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campaign type, offer, incentive, channel, frequency</a:t>
            </a:r>
            <a:endParaRPr lang="en-US" sz="490" dirty="0"/>
          </a:p>
        </p:txBody>
      </p:sp>
      <p:sp>
        <p:nvSpPr>
          <p:cNvPr id="261" name="Text 197"/>
          <p:cNvSpPr/>
          <p:nvPr/>
        </p:nvSpPr>
        <p:spPr>
          <a:xfrm>
            <a:off x="4089197" y="540410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pic>
        <p:nvPicPr>
          <p:cNvPr id="262" name="Image 62" descr="/home/claude/crm-deck/icons/pencil-teal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153205" y="5166360"/>
            <a:ext cx="146304" cy="146304"/>
          </a:xfrm>
          <a:prstGeom prst="rect">
            <a:avLst/>
          </a:prstGeom>
        </p:spPr>
      </p:pic>
      <p:sp>
        <p:nvSpPr>
          <p:cNvPr id="263" name="Text 198"/>
          <p:cNvSpPr/>
          <p:nvPr/>
        </p:nvSpPr>
        <p:spPr>
          <a:xfrm>
            <a:off x="4336085" y="5152644"/>
            <a:ext cx="8924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Content Agent</a:t>
            </a:r>
            <a:endParaRPr lang="en-US" sz="570" dirty="0"/>
          </a:p>
        </p:txBody>
      </p:sp>
      <p:sp>
        <p:nvSpPr>
          <p:cNvPr id="264" name="Text 199"/>
          <p:cNvSpPr/>
          <p:nvPr/>
        </p:nvSpPr>
        <p:spPr>
          <a:xfrm>
            <a:off x="4336085" y="5266944"/>
            <a:ext cx="89245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7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 + RAG)</a:t>
            </a:r>
            <a:endParaRPr lang="en-US" sz="470" dirty="0"/>
          </a:p>
        </p:txBody>
      </p:sp>
      <p:sp>
        <p:nvSpPr>
          <p:cNvPr id="265" name="Text 200"/>
          <p:cNvSpPr/>
          <p:nvPr/>
        </p:nvSpPr>
        <p:spPr>
          <a:xfrm>
            <a:off x="4153205" y="5385816"/>
            <a:ext cx="1038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personalized message, subject line, CTA</a:t>
            </a:r>
            <a:endParaRPr lang="en-US" sz="490" dirty="0"/>
          </a:p>
        </p:txBody>
      </p:sp>
      <p:sp>
        <p:nvSpPr>
          <p:cNvPr id="266" name="Text 201"/>
          <p:cNvSpPr/>
          <p:nvPr/>
        </p:nvSpPr>
        <p:spPr>
          <a:xfrm>
            <a:off x="5182819" y="540410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pic>
        <p:nvPicPr>
          <p:cNvPr id="267" name="Image 63" descr="/home/claude/crm-deck/icons/palette-teal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246827" y="5166360"/>
            <a:ext cx="146304" cy="146304"/>
          </a:xfrm>
          <a:prstGeom prst="rect">
            <a:avLst/>
          </a:prstGeom>
        </p:spPr>
      </p:pic>
      <p:sp>
        <p:nvSpPr>
          <p:cNvPr id="268" name="Text 202"/>
          <p:cNvSpPr/>
          <p:nvPr/>
        </p:nvSpPr>
        <p:spPr>
          <a:xfrm>
            <a:off x="5429707" y="5152644"/>
            <a:ext cx="8924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Creative Agent</a:t>
            </a:r>
            <a:endParaRPr lang="en-US" sz="570" dirty="0"/>
          </a:p>
        </p:txBody>
      </p:sp>
      <p:sp>
        <p:nvSpPr>
          <p:cNvPr id="269" name="Text 203"/>
          <p:cNvSpPr/>
          <p:nvPr/>
        </p:nvSpPr>
        <p:spPr>
          <a:xfrm>
            <a:off x="5429707" y="5266944"/>
            <a:ext cx="89245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7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 Models)</a:t>
            </a:r>
            <a:endParaRPr lang="en-US" sz="470" dirty="0"/>
          </a:p>
        </p:txBody>
      </p:sp>
      <p:sp>
        <p:nvSpPr>
          <p:cNvPr id="270" name="Text 204"/>
          <p:cNvSpPr/>
          <p:nvPr/>
        </p:nvSpPr>
        <p:spPr>
          <a:xfrm>
            <a:off x="5246827" y="5385816"/>
            <a:ext cx="1038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rank best images or creatives for the audience</a:t>
            </a:r>
            <a:endParaRPr lang="en-US" sz="490" dirty="0"/>
          </a:p>
        </p:txBody>
      </p:sp>
      <p:sp>
        <p:nvSpPr>
          <p:cNvPr id="271" name="Text 205"/>
          <p:cNvSpPr/>
          <p:nvPr/>
        </p:nvSpPr>
        <p:spPr>
          <a:xfrm>
            <a:off x="6276442" y="540410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pic>
        <p:nvPicPr>
          <p:cNvPr id="272" name="Image 64" descr="/home/claude/crm-deck/icons/chartline-teal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6340450" y="5166360"/>
            <a:ext cx="146304" cy="146304"/>
          </a:xfrm>
          <a:prstGeom prst="rect">
            <a:avLst/>
          </a:prstGeom>
        </p:spPr>
      </p:pic>
      <p:sp>
        <p:nvSpPr>
          <p:cNvPr id="273" name="Text 206"/>
          <p:cNvSpPr/>
          <p:nvPr/>
        </p:nvSpPr>
        <p:spPr>
          <a:xfrm>
            <a:off x="6523330" y="5152644"/>
            <a:ext cx="8924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Evaluation Agent</a:t>
            </a:r>
            <a:endParaRPr lang="en-US" sz="570" dirty="0"/>
          </a:p>
        </p:txBody>
      </p:sp>
      <p:sp>
        <p:nvSpPr>
          <p:cNvPr id="274" name="Text 207"/>
          <p:cNvSpPr/>
          <p:nvPr/>
        </p:nvSpPr>
        <p:spPr>
          <a:xfrm>
            <a:off x="6523330" y="5266944"/>
            <a:ext cx="89245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7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(Models)</a:t>
            </a:r>
            <a:endParaRPr lang="en-US" sz="470" dirty="0"/>
          </a:p>
        </p:txBody>
      </p:sp>
      <p:sp>
        <p:nvSpPr>
          <p:cNvPr id="275" name="Text 208"/>
          <p:cNvSpPr/>
          <p:nvPr/>
        </p:nvSpPr>
        <p:spPr>
          <a:xfrm>
            <a:off x="6340450" y="5385816"/>
            <a:ext cx="1038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CTR, Conversion, Lift, Revenue, Risk &amp; Confidence</a:t>
            </a:r>
            <a:endParaRPr lang="en-US" sz="490" dirty="0"/>
          </a:p>
        </p:txBody>
      </p:sp>
      <p:sp>
        <p:nvSpPr>
          <p:cNvPr id="276" name="Text 209"/>
          <p:cNvSpPr/>
          <p:nvPr/>
        </p:nvSpPr>
        <p:spPr>
          <a:xfrm>
            <a:off x="7370064" y="540410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pic>
        <p:nvPicPr>
          <p:cNvPr id="277" name="Image 65" descr="/home/claude/crm-deck/icons/comment-teal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7434072" y="5166360"/>
            <a:ext cx="146304" cy="146304"/>
          </a:xfrm>
          <a:prstGeom prst="rect">
            <a:avLst/>
          </a:prstGeom>
        </p:spPr>
      </p:pic>
      <p:sp>
        <p:nvSpPr>
          <p:cNvPr id="278" name="Text 210"/>
          <p:cNvSpPr/>
          <p:nvPr/>
        </p:nvSpPr>
        <p:spPr>
          <a:xfrm>
            <a:off x="7616952" y="5152644"/>
            <a:ext cx="8924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Explanation Agent</a:t>
            </a:r>
            <a:endParaRPr lang="en-US" sz="570" dirty="0"/>
          </a:p>
        </p:txBody>
      </p:sp>
      <p:sp>
        <p:nvSpPr>
          <p:cNvPr id="279" name="Text 211"/>
          <p:cNvSpPr/>
          <p:nvPr/>
        </p:nvSpPr>
        <p:spPr>
          <a:xfrm>
            <a:off x="7616952" y="5266944"/>
            <a:ext cx="89245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7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470" dirty="0"/>
          </a:p>
        </p:txBody>
      </p:sp>
      <p:sp>
        <p:nvSpPr>
          <p:cNvPr id="280" name="Text 212"/>
          <p:cNvSpPr/>
          <p:nvPr/>
        </p:nvSpPr>
        <p:spPr>
          <a:xfrm>
            <a:off x="7434072" y="5385816"/>
            <a:ext cx="1038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rationale, key factors, expected outcomes</a:t>
            </a:r>
            <a:endParaRPr lang="en-US" sz="490" dirty="0"/>
          </a:p>
        </p:txBody>
      </p:sp>
      <p:sp>
        <p:nvSpPr>
          <p:cNvPr id="281" name="Shape 213"/>
          <p:cNvSpPr/>
          <p:nvPr/>
        </p:nvSpPr>
        <p:spPr>
          <a:xfrm>
            <a:off x="8600846" y="5157216"/>
            <a:ext cx="1548994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82" name="Image 66" descr="/home/claude/crm-deck/icons/usercheck-teal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8655710" y="5193792"/>
            <a:ext cx="146304" cy="146304"/>
          </a:xfrm>
          <a:prstGeom prst="rect">
            <a:avLst/>
          </a:prstGeom>
        </p:spPr>
      </p:pic>
      <p:sp>
        <p:nvSpPr>
          <p:cNvPr id="283" name="Text 214"/>
          <p:cNvSpPr/>
          <p:nvPr/>
        </p:nvSpPr>
        <p:spPr>
          <a:xfrm>
            <a:off x="8838590" y="5184648"/>
            <a:ext cx="12746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620" dirty="0"/>
          </a:p>
        </p:txBody>
      </p:sp>
      <p:sp>
        <p:nvSpPr>
          <p:cNvPr id="284" name="Text 215"/>
          <p:cNvSpPr/>
          <p:nvPr/>
        </p:nvSpPr>
        <p:spPr>
          <a:xfrm>
            <a:off x="8673998" y="5330952"/>
            <a:ext cx="1420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</a:t>
            </a:r>
            <a:endParaRPr lang="en-US" sz="5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6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/ Edit</a:t>
            </a:r>
            <a:endParaRPr lang="en-US" sz="5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6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</a:t>
            </a:r>
            <a:endParaRPr lang="en-US" sz="5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60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</a:t>
            </a:r>
            <a:endParaRPr lang="en-US" sz="560" dirty="0"/>
          </a:p>
        </p:txBody>
      </p:sp>
      <p:sp>
        <p:nvSpPr>
          <p:cNvPr id="285" name="Shape 216"/>
          <p:cNvSpPr/>
          <p:nvPr/>
        </p:nvSpPr>
        <p:spPr>
          <a:xfrm>
            <a:off x="137160" y="5934456"/>
            <a:ext cx="11914632" cy="384048"/>
          </a:xfrm>
          <a:prstGeom prst="roundRect">
            <a:avLst>
              <a:gd name="adj" fmla="val 14286"/>
            </a:avLst>
          </a:prstGeom>
          <a:solidFill>
            <a:srgbClr val="F1EBF8"/>
          </a:solidFill>
          <a:ln w="15875">
            <a:solidFill>
              <a:srgbClr val="6A3FA0"/>
            </a:solidFill>
            <a:prstDash val="solid"/>
          </a:ln>
        </p:spPr>
      </p:sp>
      <p:sp>
        <p:nvSpPr>
          <p:cNvPr id="286" name="Shape 217"/>
          <p:cNvSpPr/>
          <p:nvPr/>
        </p:nvSpPr>
        <p:spPr>
          <a:xfrm>
            <a:off x="137160" y="5934456"/>
            <a:ext cx="1828800" cy="384048"/>
          </a:xfrm>
          <a:prstGeom prst="rect">
            <a:avLst/>
          </a:prstGeom>
          <a:solidFill>
            <a:srgbClr val="6A3FA0"/>
          </a:solidFill>
          <a:ln/>
        </p:spPr>
      </p:sp>
      <p:sp>
        <p:nvSpPr>
          <p:cNvPr id="287" name="Text 218"/>
          <p:cNvSpPr/>
          <p:nvPr/>
        </p:nvSpPr>
        <p:spPr>
          <a:xfrm>
            <a:off x="137160" y="59344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LAYER</a:t>
            </a:r>
            <a:endParaRPr lang="en-US" sz="900" dirty="0"/>
          </a:p>
        </p:txBody>
      </p:sp>
      <p:pic>
        <p:nvPicPr>
          <p:cNvPr id="288" name="Image 67" descr="/home/claude/crm-deck/icons/envelope-purple2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057400" y="6025896"/>
            <a:ext cx="182880" cy="182880"/>
          </a:xfrm>
          <a:prstGeom prst="rect">
            <a:avLst/>
          </a:prstGeom>
        </p:spPr>
      </p:pic>
      <p:sp>
        <p:nvSpPr>
          <p:cNvPr id="289" name="Text 219"/>
          <p:cNvSpPr/>
          <p:nvPr/>
        </p:nvSpPr>
        <p:spPr>
          <a:xfrm>
            <a:off x="2276856" y="6035040"/>
            <a:ext cx="11900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680" dirty="0"/>
          </a:p>
        </p:txBody>
      </p:sp>
      <p:pic>
        <p:nvPicPr>
          <p:cNvPr id="290" name="Image 68" descr="/home/claude/crm-deck/icons/bell-purple2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3485170" y="6025896"/>
            <a:ext cx="182880" cy="182880"/>
          </a:xfrm>
          <a:prstGeom prst="rect">
            <a:avLst/>
          </a:prstGeom>
        </p:spPr>
      </p:pic>
      <p:sp>
        <p:nvSpPr>
          <p:cNvPr id="291" name="Text 220"/>
          <p:cNvSpPr/>
          <p:nvPr/>
        </p:nvSpPr>
        <p:spPr>
          <a:xfrm>
            <a:off x="3704626" y="6035040"/>
            <a:ext cx="11900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</a:t>
            </a:r>
            <a:endParaRPr lang="en-US" sz="680" dirty="0"/>
          </a:p>
        </p:txBody>
      </p:sp>
      <p:pic>
        <p:nvPicPr>
          <p:cNvPr id="292" name="Image 69" descr="/home/claude/crm-deck/icons/comment-purple2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912941" y="6025896"/>
            <a:ext cx="182880" cy="182880"/>
          </a:xfrm>
          <a:prstGeom prst="rect">
            <a:avLst/>
          </a:prstGeom>
        </p:spPr>
      </p:pic>
      <p:sp>
        <p:nvSpPr>
          <p:cNvPr id="293" name="Text 221"/>
          <p:cNvSpPr/>
          <p:nvPr/>
        </p:nvSpPr>
        <p:spPr>
          <a:xfrm>
            <a:off x="5132397" y="6035040"/>
            <a:ext cx="11900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680" dirty="0"/>
          </a:p>
        </p:txBody>
      </p:sp>
      <p:pic>
        <p:nvPicPr>
          <p:cNvPr id="294" name="Image 70" descr="/home/claude/crm-deck/icons/mobile-purple2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6340711" y="6025896"/>
            <a:ext cx="182880" cy="182880"/>
          </a:xfrm>
          <a:prstGeom prst="rect">
            <a:avLst/>
          </a:prstGeom>
        </p:spPr>
      </p:pic>
      <p:sp>
        <p:nvSpPr>
          <p:cNvPr id="295" name="Text 222"/>
          <p:cNvSpPr/>
          <p:nvPr/>
        </p:nvSpPr>
        <p:spPr>
          <a:xfrm>
            <a:off x="6560167" y="6035040"/>
            <a:ext cx="11900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</a:t>
            </a:r>
            <a:endParaRPr lang="en-US" sz="680" dirty="0"/>
          </a:p>
        </p:txBody>
      </p:sp>
      <p:pic>
        <p:nvPicPr>
          <p:cNvPr id="296" name="Image 71" descr="/home/claude/crm-deck/icons/globe-purple2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7768481" y="6025896"/>
            <a:ext cx="182880" cy="182880"/>
          </a:xfrm>
          <a:prstGeom prst="rect">
            <a:avLst/>
          </a:prstGeom>
        </p:spPr>
      </p:pic>
      <p:sp>
        <p:nvSpPr>
          <p:cNvPr id="297" name="Text 223"/>
          <p:cNvSpPr/>
          <p:nvPr/>
        </p:nvSpPr>
        <p:spPr>
          <a:xfrm>
            <a:off x="7987937" y="6035040"/>
            <a:ext cx="11900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Personalization</a:t>
            </a:r>
            <a:endParaRPr lang="en-US" sz="680" dirty="0"/>
          </a:p>
        </p:txBody>
      </p:sp>
      <p:pic>
        <p:nvPicPr>
          <p:cNvPr id="298" name="Image 72" descr="/home/claude/crm-deck/icons/ad-purple2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9196251" y="6025896"/>
            <a:ext cx="182880" cy="182880"/>
          </a:xfrm>
          <a:prstGeom prst="rect">
            <a:avLst/>
          </a:prstGeom>
        </p:spPr>
      </p:pic>
      <p:sp>
        <p:nvSpPr>
          <p:cNvPr id="299" name="Text 224"/>
          <p:cNvSpPr/>
          <p:nvPr/>
        </p:nvSpPr>
        <p:spPr>
          <a:xfrm>
            <a:off x="9415707" y="6035040"/>
            <a:ext cx="11900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Platforms</a:t>
            </a:r>
            <a:endParaRPr lang="en-US" sz="680" dirty="0"/>
          </a:p>
        </p:txBody>
      </p:sp>
      <p:pic>
        <p:nvPicPr>
          <p:cNvPr id="300" name="Image 73" descr="/home/claude/crm-deck/icons/plug-purple2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10624022" y="6025896"/>
            <a:ext cx="182880" cy="182880"/>
          </a:xfrm>
          <a:prstGeom prst="rect">
            <a:avLst/>
          </a:prstGeom>
        </p:spPr>
      </p:pic>
      <p:sp>
        <p:nvSpPr>
          <p:cNvPr id="301" name="Text 225"/>
          <p:cNvSpPr/>
          <p:nvPr/>
        </p:nvSpPr>
        <p:spPr>
          <a:xfrm>
            <a:off x="10843478" y="6035040"/>
            <a:ext cx="11900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A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Integrations</a:t>
            </a:r>
            <a:endParaRPr lang="en-US" sz="680" dirty="0"/>
          </a:p>
        </p:txBody>
      </p:sp>
      <p:sp>
        <p:nvSpPr>
          <p:cNvPr id="302" name="Shape 226"/>
          <p:cNvSpPr/>
          <p:nvPr/>
        </p:nvSpPr>
        <p:spPr>
          <a:xfrm>
            <a:off x="137160" y="6373368"/>
            <a:ext cx="11914632" cy="347472"/>
          </a:xfrm>
          <a:prstGeom prst="roundRect">
            <a:avLst>
              <a:gd name="adj" fmla="val 15789"/>
            </a:avLst>
          </a:prstGeom>
          <a:solidFill>
            <a:srgbClr val="FBF2DF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303" name="Shape 227"/>
          <p:cNvSpPr/>
          <p:nvPr/>
        </p:nvSpPr>
        <p:spPr>
          <a:xfrm>
            <a:off x="137160" y="6373368"/>
            <a:ext cx="2194560" cy="34747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04" name="Text 228"/>
          <p:cNvSpPr/>
          <p:nvPr/>
        </p:nvSpPr>
        <p:spPr>
          <a:xfrm>
            <a:off x="137160" y="63733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LEARNING LOOP</a:t>
            </a:r>
            <a:endParaRPr lang="en-US" sz="850" dirty="0"/>
          </a:p>
        </p:txBody>
      </p:sp>
      <p:pic>
        <p:nvPicPr>
          <p:cNvPr id="305" name="Image 74" descr="/home/claude/crm-deck/icons/checksquare-gol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423160" y="6428232"/>
            <a:ext cx="146304" cy="146304"/>
          </a:xfrm>
          <a:prstGeom prst="rect">
            <a:avLst/>
          </a:prstGeom>
        </p:spPr>
      </p:pic>
      <p:sp>
        <p:nvSpPr>
          <p:cNvPr id="306" name="Text 229"/>
          <p:cNvSpPr/>
          <p:nvPr/>
        </p:nvSpPr>
        <p:spPr>
          <a:xfrm>
            <a:off x="2596896" y="6405372"/>
            <a:ext cx="1377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Performance Data</a:t>
            </a:r>
            <a:endParaRPr lang="en-US" sz="560" dirty="0"/>
          </a:p>
        </p:txBody>
      </p:sp>
      <p:sp>
        <p:nvSpPr>
          <p:cNvPr id="307" name="Text 230"/>
          <p:cNvSpPr/>
          <p:nvPr/>
        </p:nvSpPr>
        <p:spPr>
          <a:xfrm>
            <a:off x="2596896" y="653338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(Clicks, Opens, Conversions, Revenue)</a:t>
            </a:r>
            <a:endParaRPr lang="en-US" sz="500" dirty="0"/>
          </a:p>
        </p:txBody>
      </p:sp>
      <p:pic>
        <p:nvPicPr>
          <p:cNvPr id="308" name="Image 75" descr="/home/claude/crm-deck/icons/database-gol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020312" y="6428232"/>
            <a:ext cx="146304" cy="146304"/>
          </a:xfrm>
          <a:prstGeom prst="rect">
            <a:avLst/>
          </a:prstGeom>
        </p:spPr>
      </p:pic>
      <p:sp>
        <p:nvSpPr>
          <p:cNvPr id="309" name="Text 231"/>
          <p:cNvSpPr/>
          <p:nvPr/>
        </p:nvSpPr>
        <p:spPr>
          <a:xfrm>
            <a:off x="4194048" y="6405372"/>
            <a:ext cx="1377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Golden Dataset</a:t>
            </a:r>
            <a:endParaRPr lang="en-US" sz="560" dirty="0"/>
          </a:p>
        </p:txBody>
      </p:sp>
      <p:sp>
        <p:nvSpPr>
          <p:cNvPr id="310" name="Text 232"/>
          <p:cNvSpPr/>
          <p:nvPr/>
        </p:nvSpPr>
        <p:spPr>
          <a:xfrm>
            <a:off x="4194048" y="653338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Feature Store</a:t>
            </a:r>
            <a:endParaRPr lang="en-US" sz="500" dirty="0"/>
          </a:p>
        </p:txBody>
      </p:sp>
      <p:pic>
        <p:nvPicPr>
          <p:cNvPr id="311" name="Image 76" descr="/home/claude/crm-deck/icons/sync-gol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5617464" y="6428232"/>
            <a:ext cx="146304" cy="146304"/>
          </a:xfrm>
          <a:prstGeom prst="rect">
            <a:avLst/>
          </a:prstGeom>
        </p:spPr>
      </p:pic>
      <p:sp>
        <p:nvSpPr>
          <p:cNvPr id="312" name="Text 233"/>
          <p:cNvSpPr/>
          <p:nvPr/>
        </p:nvSpPr>
        <p:spPr>
          <a:xfrm>
            <a:off x="5791200" y="6405372"/>
            <a:ext cx="1377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</a:t>
            </a:r>
            <a:endParaRPr lang="en-US" sz="560" dirty="0"/>
          </a:p>
        </p:txBody>
      </p:sp>
      <p:sp>
        <p:nvSpPr>
          <p:cNvPr id="313" name="Text 234"/>
          <p:cNvSpPr/>
          <p:nvPr/>
        </p:nvSpPr>
        <p:spPr>
          <a:xfrm>
            <a:off x="5791200" y="653338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Recalibration</a:t>
            </a:r>
            <a:endParaRPr lang="en-US" sz="500" dirty="0"/>
          </a:p>
        </p:txBody>
      </p:sp>
      <p:pic>
        <p:nvPicPr>
          <p:cNvPr id="314" name="Image 77" descr="/home/claude/crm-deck/icons/filelines-gol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7214616" y="6428232"/>
            <a:ext cx="146304" cy="146304"/>
          </a:xfrm>
          <a:prstGeom prst="rect">
            <a:avLst/>
          </a:prstGeom>
        </p:spPr>
      </p:pic>
      <p:sp>
        <p:nvSpPr>
          <p:cNvPr id="315" name="Text 235"/>
          <p:cNvSpPr/>
          <p:nvPr/>
        </p:nvSpPr>
        <p:spPr>
          <a:xfrm>
            <a:off x="7388352" y="6405372"/>
            <a:ext cx="1377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/ Strategy</a:t>
            </a:r>
            <a:endParaRPr lang="en-US" sz="560" dirty="0"/>
          </a:p>
        </p:txBody>
      </p:sp>
      <p:sp>
        <p:nvSpPr>
          <p:cNvPr id="316" name="Text 236"/>
          <p:cNvSpPr/>
          <p:nvPr/>
        </p:nvSpPr>
        <p:spPr>
          <a:xfrm>
            <a:off x="7388352" y="653338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500" dirty="0"/>
          </a:p>
        </p:txBody>
      </p:sp>
      <p:pic>
        <p:nvPicPr>
          <p:cNvPr id="317" name="Image 78" descr="/home/claude/crm-deck/icons/db2-gol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8811768" y="6428232"/>
            <a:ext cx="146304" cy="146304"/>
          </a:xfrm>
          <a:prstGeom prst="rect">
            <a:avLst/>
          </a:prstGeom>
        </p:spPr>
      </p:pic>
      <p:sp>
        <p:nvSpPr>
          <p:cNvPr id="318" name="Text 237"/>
          <p:cNvSpPr/>
          <p:nvPr/>
        </p:nvSpPr>
        <p:spPr>
          <a:xfrm>
            <a:off x="8985504" y="6405372"/>
            <a:ext cx="1377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560" dirty="0"/>
          </a:p>
        </p:txBody>
      </p:sp>
      <p:sp>
        <p:nvSpPr>
          <p:cNvPr id="319" name="Text 238"/>
          <p:cNvSpPr/>
          <p:nvPr/>
        </p:nvSpPr>
        <p:spPr>
          <a:xfrm>
            <a:off x="8985504" y="653338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500" dirty="0"/>
          </a:p>
        </p:txBody>
      </p:sp>
      <p:pic>
        <p:nvPicPr>
          <p:cNvPr id="320" name="Image 79" descr="/home/claude/crm-deck/icons/rotateright-gol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10408920" y="6428232"/>
            <a:ext cx="146304" cy="146304"/>
          </a:xfrm>
          <a:prstGeom prst="rect">
            <a:avLst/>
          </a:prstGeom>
        </p:spPr>
      </p:pic>
      <p:sp>
        <p:nvSpPr>
          <p:cNvPr id="321" name="Text 239"/>
          <p:cNvSpPr/>
          <p:nvPr/>
        </p:nvSpPr>
        <p:spPr>
          <a:xfrm>
            <a:off x="10582656" y="6405372"/>
            <a:ext cx="1377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Evaluation</a:t>
            </a:r>
            <a:endParaRPr lang="en-US" sz="560" dirty="0"/>
          </a:p>
        </p:txBody>
      </p:sp>
      <p:sp>
        <p:nvSpPr>
          <p:cNvPr id="322" name="Text 240"/>
          <p:cNvSpPr/>
          <p:nvPr/>
        </p:nvSpPr>
        <p:spPr>
          <a:xfrm>
            <a:off x="10582656" y="653338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Monitoring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2026-07-16T01:50:16Z</dcterms:created>
  <dcterms:modified xsi:type="dcterms:W3CDTF">2026-07-16T01:50:16Z</dcterms:modified>
</cp:coreProperties>
</file>