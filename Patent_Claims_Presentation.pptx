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INSIGHT DISCOVERY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Claims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Claims | 5 Independent | 12 Observable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828800" cy="731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Claims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05840"/>
            <a:ext cx="2011680" cy="10972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6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2011680" cy="10972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005840"/>
            <a:ext cx="2011680" cy="109728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Claims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1, 7, 13, 17, 21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 Claims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 17, 19, 21-28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Backend/Algorithm Claims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1-12, 14-16, 18, 20, 29-30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5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Observable Claims Matter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claims (UI, API, data flow) can be detected from outside the system — making infringement easier to prove and the patent more enforceable.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 Claim (Independent)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computer-implemented method for discovering business insights across heterogeneous data layers, comprising: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data from raw data layer, derived data layer, and model output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layer-specific anomaly scanners with hierarchical dimensional enumeration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correlation score with four weighted factors: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Entity overlap (40%) — Jaccard + significance adjustment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Temporal alignment (25%) — onset, peak, duration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Dimensional consistency (15%) — hierarchical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Semantic link (20%) — vocabulary mapping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correlated signals via correlation graph + connected components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unified insight with evidence, entities, confidence, and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109728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Claim (Independent)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for cross-layer business insight discovery, comprising: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7160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Processors + Memory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more processors with stored instructions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9748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37160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Adapters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raw events, feature stores, ML model outputs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9748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37160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Layer-Specific Scanners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dimensional enumeration engines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269748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37744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743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Entity, temporal, dimensional, semantic calculators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377440"/>
            <a:ext cx="269748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237744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Module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2743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graph construction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9748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0" y="237744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Output Interface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743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insights with confidence scores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109728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Claim (Independent)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"/>
            <a:ext cx="118872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computer-implemented system comprising a user interface that displays: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insight combining signals from multiple data layers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confidence score (likelihood same phenomenon)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affected entities common across signals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provenance (which layer contributed each signal)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51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 based on correlated insight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UI claims are visible — if a competitor's product shows these elements, infringement is detectable.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Output Claim (Independent)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"/>
            <a:ext cx="118872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for generating a structured insight output via API: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"correlation_score": 0.896,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"factors":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"entity_overlap": 0.94,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"temporal_alignment": 0.87,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"dimensional_consistency": 0.91,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"semantic_similarity": 0.83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"signals": ["RAW-001", "FEAT-002", "MODEL-003"],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"affected_entities": ["cust_123", "cust_456", ...],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"confidence_level": "HIGH"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API output structure can be tested externally — if competitor's API returns this format, infringement is provable.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Claim (Independent)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"/>
            <a:ext cx="118872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914400" cy="914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86000"/>
            <a:ext cx="2011680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651760"/>
            <a:ext cx="914400" cy="914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83280"/>
            <a:ext cx="2011680" cy="8229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3749040"/>
            <a:ext cx="914400" cy="914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1645920"/>
            <a:ext cx="2286000" cy="2103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914400" cy="914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2103120"/>
            <a:ext cx="164592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If competitor ingests from 3 source types and outputs unified alerts, data flow pattern is detectable.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Claims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dependent claims grouped by category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6052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Enumeration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1170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2, 3,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rules, 99% reduction, priority queue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6052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09728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70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Overlap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09560" y="1170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5, 6, 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adjustment, 10X threshold, cross-ID resolution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416052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5740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30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Alignment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130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9, 10,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4231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Onset/peak/duration, variable delays, learned patterns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416052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05740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30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&amp; Semantic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2130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12, 14,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4231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matching, vocabulary mapping, embeddings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4160520" cy="8686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017520"/>
            <a:ext cx="73152" cy="8686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090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&amp; Confidence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16, 18, 19, 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383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clustering, layer diversity, classifications, weights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017520"/>
            <a:ext cx="416052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3017520"/>
            <a:ext cx="73152" cy="8686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090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Outputs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0956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22, 23, 24, 25, 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383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overlap viz, actions, alerts, severity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416052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977640"/>
            <a:ext cx="73152" cy="8686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4050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27, 28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4343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(&lt;1hr), 90% time reduction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977640"/>
            <a:ext cx="416052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800600" y="3977640"/>
            <a:ext cx="73152" cy="868680"/>
          </a:xfrm>
          <a:prstGeom prst="rect">
            <a:avLst/>
          </a:prstGeom>
          <a:solidFill>
            <a:srgbClr val="2E5A7C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Zero-Configuration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09560" y="4050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29, 30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4343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Auto-discovery, column statistics analysis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274320" cy="182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4736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11680" y="4754880"/>
            <a:ext cx="274320" cy="1828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7" name="Text 45"/>
          <p:cNvSpPr/>
          <p:nvPr/>
        </p:nvSpPr>
        <p:spPr>
          <a:xfrm>
            <a:off x="2331720" y="47365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4754880"/>
            <a:ext cx="27432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Text 47"/>
          <p:cNvSpPr/>
          <p:nvPr/>
        </p:nvSpPr>
        <p:spPr>
          <a:xfrm>
            <a:off x="3520440" y="4736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Innovation: Four-Factor Correlation Scoring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weighted combination (40/25/15/20) is NOT taught by any prior 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Overlap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similarity + significance adjustment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Alignment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85750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 lag + peak alignment + duration ratio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Link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286000" cy="3200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mapping + embedding similarity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Consistency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714500" cy="3200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attribute matching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= 0.40 × Entity + 0.25 × Temporal + 0.20 × Semantic + 0.15 × Dimensional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Enforceability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detect infringement and get value from this patent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Methods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Public documentation &amp; engineering blogs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 features &amp; marketing claims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Patent filings by competitors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testing &amp; output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UI observation &amp; screenshots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Paths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1-5% of related product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Litigation: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reveals competitor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Counter-sue protection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to aggregators or competitors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74720"/>
            <a:ext cx="91440" cy="10058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Observable Claims = Stronger Enforcement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13, 17, 21 (UI, API, Data Flow) can be detected externally without access to competitor's source code. These claims make infringement provable through product observation alone.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Claims List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8595360" cy="4480560"/>
        </p:xfrm>
        <a:graphic>
          <a:graphicData uri="http://schemas.openxmlformats.org/drawingml/2006/table">
            <a:tbl>
              <a:tblPr/>
              <a:tblGrid>
                <a:gridCol w="457200"/>
                <a:gridCol w="4937760"/>
                <a:gridCol w="1645920"/>
                <a:gridCol w="1554480"/>
              </a:tblGrid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Method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Hierarchical enumeration details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 pruning efficiency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queue ordering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Significance adjustment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10X significance threshold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Architecture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Cross-identifier resolution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 score components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propagation delays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delay patterns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Dimensional ontology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Interface Display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Vocabulary mapping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similarity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clustering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Output Structure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diversity confidence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classification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weights (40/25/15/20)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Flow (3 Sources)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 visualization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 visualization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recommendations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transmission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 classification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detection (&lt;1hr)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 time reduction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Auto-discovery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statistics analysis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 on 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Total Claims covering method, system, UI, API, and data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Independent Claims — each protects a different aspect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Observable Claims — enforceable without source code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Innovation: Four-factor weighted scoring (40/25/15/20)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Differentiator: Cross-layer correlation, not just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Non-Obviousness: Teaching away, long-felt need, unexpected results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INSIGHT DISCOVERY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Cross-Layer Insight Discovery System - Patent Claims</dc:title>
  <dc:subject>PptxGenJS Presentation</dc:subject>
  <dc:creator>Samsung</dc:creator>
  <cp:lastModifiedBy>Samsung</cp:lastModifiedBy>
  <cp:revision>1</cp:revision>
  <dcterms:created xsi:type="dcterms:W3CDTF">2026-04-06T05:32:00Z</dcterms:created>
  <dcterms:modified xsi:type="dcterms:W3CDTF">2026-04-06T05:32:00Z</dcterms:modified>
</cp:coreProperties>
</file>